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0"/>
  </p:notesMasterIdLst>
  <p:handoutMasterIdLst>
    <p:handoutMasterId r:id="rId21"/>
  </p:handoutMasterIdLst>
  <p:sldIdLst>
    <p:sldId id="258" r:id="rId2"/>
    <p:sldId id="322" r:id="rId3"/>
    <p:sldId id="259" r:id="rId4"/>
    <p:sldId id="310" r:id="rId5"/>
    <p:sldId id="323" r:id="rId6"/>
    <p:sldId id="308" r:id="rId7"/>
    <p:sldId id="309" r:id="rId8"/>
    <p:sldId id="311" r:id="rId9"/>
    <p:sldId id="312" r:id="rId10"/>
    <p:sldId id="313" r:id="rId11"/>
    <p:sldId id="314" r:id="rId12"/>
    <p:sldId id="315" r:id="rId13"/>
    <p:sldId id="316" r:id="rId14"/>
    <p:sldId id="317" r:id="rId15"/>
    <p:sldId id="318" r:id="rId16"/>
    <p:sldId id="319" r:id="rId17"/>
    <p:sldId id="320" r:id="rId18"/>
    <p:sldId id="321" r:id="rId19"/>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3300"/>
    <a:srgbClr val="FF3300"/>
    <a:srgbClr val="0000FF"/>
    <a:srgbClr val="99FFCC"/>
    <a:srgbClr val="FFFF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81" d="100"/>
          <a:sy n="81" d="100"/>
        </p:scale>
        <p:origin x="-216" y="408"/>
      </p:cViewPr>
      <p:guideLst>
        <p:guide orient="horz" pos="2160"/>
        <p:guide pos="3840"/>
      </p:guideLst>
    </p:cSldViewPr>
  </p:slideViewPr>
  <p:notesTextViewPr>
    <p:cViewPr>
      <p:scale>
        <a:sx n="1" d="1"/>
        <a:sy n="1" d="1"/>
      </p:scale>
      <p:origin x="0" y="0"/>
    </p:cViewPr>
  </p:notesTextViewPr>
  <p:notesViewPr>
    <p:cSldViewPr snapToGrid="0">
      <p:cViewPr varScale="1">
        <p:scale>
          <a:sx n="48" d="100"/>
          <a:sy n="48" d="100"/>
        </p:scale>
        <p:origin x="2940" y="66"/>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71C521B-333D-68DB-805B-C89D9BB54131}"/>
              </a:ext>
            </a:extLst>
          </p:cNvPr>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A09E4369-45DC-4AF4-70B4-7F2F3E4CEC46}"/>
              </a:ext>
            </a:extLst>
          </p:cNvPr>
          <p:cNvSpPr>
            <a:spLocks noGrp="1"/>
          </p:cNvSpPr>
          <p:nvPr>
            <p:ph type="dt" sz="quarter" idx="1"/>
          </p:nvPr>
        </p:nvSpPr>
        <p:spPr>
          <a:xfrm>
            <a:off x="3849688" y="0"/>
            <a:ext cx="2946400" cy="495300"/>
          </a:xfrm>
          <a:prstGeom prst="rect">
            <a:avLst/>
          </a:prstGeom>
        </p:spPr>
        <p:txBody>
          <a:bodyPr vert="horz" lIns="91440" tIns="45720" rIns="91440" bIns="45720" rtlCol="0"/>
          <a:lstStyle>
            <a:lvl1pPr algn="r">
              <a:defRPr sz="1200"/>
            </a:lvl1pPr>
          </a:lstStyle>
          <a:p>
            <a:fld id="{6B09A57C-3C02-4E64-929D-0AC677CF7C56}" type="datetimeFigureOut">
              <a:rPr lang="en-IN" smtClean="0"/>
              <a:pPr/>
              <a:t>23-06-2023</a:t>
            </a:fld>
            <a:endParaRPr lang="en-IN"/>
          </a:p>
        </p:txBody>
      </p:sp>
      <p:sp>
        <p:nvSpPr>
          <p:cNvPr id="4" name="Footer Placeholder 3">
            <a:extLst>
              <a:ext uri="{FF2B5EF4-FFF2-40B4-BE49-F238E27FC236}">
                <a16:creationId xmlns:a16="http://schemas.microsoft.com/office/drawing/2014/main" xmlns="" id="{0BAD45B2-B23E-DDFB-CE5C-52C5E49B353D}"/>
              </a:ext>
            </a:extLst>
          </p:cNvPr>
          <p:cNvSpPr>
            <a:spLocks noGrp="1"/>
          </p:cNvSpPr>
          <p:nvPr>
            <p:ph type="ftr" sz="quarter" idx="2"/>
          </p:nvPr>
        </p:nvSpPr>
        <p:spPr>
          <a:xfrm>
            <a:off x="0" y="9378950"/>
            <a:ext cx="2946400" cy="4953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DB8B0FE6-40C2-7E92-F0CF-B736F1814E77}"/>
              </a:ext>
            </a:extLst>
          </p:cNvPr>
          <p:cNvSpPr>
            <a:spLocks noGrp="1"/>
          </p:cNvSpPr>
          <p:nvPr>
            <p:ph type="sldNum" sz="quarter" idx="3"/>
          </p:nvPr>
        </p:nvSpPr>
        <p:spPr>
          <a:xfrm>
            <a:off x="3849688" y="9378950"/>
            <a:ext cx="2946400" cy="495300"/>
          </a:xfrm>
          <a:prstGeom prst="rect">
            <a:avLst/>
          </a:prstGeom>
        </p:spPr>
        <p:txBody>
          <a:bodyPr vert="horz" lIns="91440" tIns="45720" rIns="91440" bIns="45720" rtlCol="0" anchor="b"/>
          <a:lstStyle>
            <a:lvl1pPr algn="r">
              <a:defRPr sz="1200"/>
            </a:lvl1pPr>
          </a:lstStyle>
          <a:p>
            <a:fld id="{8C27673A-2CA9-43F3-8FE9-D237F935A9AB}" type="slidenum">
              <a:rPr lang="en-IN" smtClean="0"/>
              <a:pPr/>
              <a:t>‹#›</a:t>
            </a:fld>
            <a:endParaRPr lang="en-IN"/>
          </a:p>
        </p:txBody>
      </p:sp>
    </p:spTree>
    <p:extLst>
      <p:ext uri="{BB962C8B-B14F-4D97-AF65-F5344CB8AC3E}">
        <p14:creationId xmlns="" xmlns:p14="http://schemas.microsoft.com/office/powerpoint/2010/main" val="2280633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3713"/>
          </a:xfrm>
          <a:prstGeom prst="rect">
            <a:avLst/>
          </a:prstGeom>
        </p:spPr>
        <p:txBody>
          <a:bodyPr vert="horz" lIns="91440" tIns="45720" rIns="91440" bIns="45720" rtlCol="0"/>
          <a:lstStyle>
            <a:lvl1pPr algn="r">
              <a:defRPr sz="1200"/>
            </a:lvl1pPr>
          </a:lstStyle>
          <a:p>
            <a:fld id="{707E2303-0494-48CF-A352-88245EB11613}" type="datetimeFigureOut">
              <a:rPr lang="en-US" smtClean="0"/>
              <a:pPr/>
              <a:t>6/23/2023</a:t>
            </a:fld>
            <a:endParaRPr lang="en-US"/>
          </a:p>
        </p:txBody>
      </p:sp>
      <p:sp>
        <p:nvSpPr>
          <p:cNvPr id="4" name="Slide Image Placeholder 3"/>
          <p:cNvSpPr>
            <a:spLocks noGrp="1" noRot="1" noChangeAspect="1"/>
          </p:cNvSpPr>
          <p:nvPr>
            <p:ph type="sldImg" idx="2"/>
          </p:nvPr>
        </p:nvSpPr>
        <p:spPr>
          <a:xfrm>
            <a:off x="1095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69"/>
            <a:ext cx="5438140" cy="44434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1440" tIns="45720" rIns="91440" bIns="45720" rtlCol="0" anchor="b"/>
          <a:lstStyle>
            <a:lvl1pPr algn="r">
              <a:defRPr sz="1200"/>
            </a:lvl1pPr>
          </a:lstStyle>
          <a:p>
            <a:fld id="{7884435D-48E8-4261-82EE-B14E4D5BFF7E}" type="slidenum">
              <a:rPr lang="en-US" smtClean="0"/>
              <a:pPr/>
              <a:t>‹#›</a:t>
            </a:fld>
            <a:endParaRPr lang="en-US"/>
          </a:p>
        </p:txBody>
      </p:sp>
    </p:spTree>
    <p:extLst>
      <p:ext uri="{BB962C8B-B14F-4D97-AF65-F5344CB8AC3E}">
        <p14:creationId xmlns="" xmlns:p14="http://schemas.microsoft.com/office/powerpoint/2010/main" val="4119608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884435D-48E8-4261-82EE-B14E4D5BFF7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884435D-48E8-4261-82EE-B14E4D5BFF7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884435D-48E8-4261-82EE-B14E4D5BFF7E}"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884435D-48E8-4261-82EE-B14E4D5BFF7E}"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E5D45A06-9704-4C28-94D3-B3861964076E}" type="slidenum">
              <a:rPr lang="en-US" altLang="en-US"/>
              <a:pPr>
                <a:defRPr/>
              </a:pPr>
              <a:t>‹#›</a:t>
            </a:fld>
            <a:endParaRPr lang="en-US" altLang="en-US" dirty="0"/>
          </a:p>
        </p:txBody>
      </p:sp>
    </p:spTree>
    <p:extLst>
      <p:ext uri="{BB962C8B-B14F-4D97-AF65-F5344CB8AC3E}">
        <p14:creationId xmlns="" xmlns:p14="http://schemas.microsoft.com/office/powerpoint/2010/main" val="306527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 xmlns:p14="http://schemas.microsoft.com/office/powerpoint/2010/main" val="2580982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7420A9ED-9C19-4A5B-BBF3-CD68253FA937}" type="slidenum">
              <a:rPr lang="en-US" altLang="en-US"/>
              <a:pPr>
                <a:defRPr/>
              </a:pPr>
              <a:t>‹#›</a:t>
            </a:fld>
            <a:endParaRPr lang="en-US" altLang="en-US" dirty="0"/>
          </a:p>
        </p:txBody>
      </p:sp>
    </p:spTree>
    <p:extLst>
      <p:ext uri="{BB962C8B-B14F-4D97-AF65-F5344CB8AC3E}">
        <p14:creationId xmlns="" xmlns:p14="http://schemas.microsoft.com/office/powerpoint/2010/main" val="887760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6"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7"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0932BBD2-1018-404B-98F2-3B80F97F0889}" type="slidenum">
              <a:rPr lang="en-US" altLang="en-US"/>
              <a:pPr>
                <a:defRPr/>
              </a:pPr>
              <a:t>‹#›</a:t>
            </a:fld>
            <a:endParaRPr lang="en-US" altLang="en-US" dirty="0"/>
          </a:p>
        </p:txBody>
      </p:sp>
    </p:spTree>
    <p:extLst>
      <p:ext uri="{BB962C8B-B14F-4D97-AF65-F5344CB8AC3E}">
        <p14:creationId xmlns="" xmlns:p14="http://schemas.microsoft.com/office/powerpoint/2010/main" val="3641765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9" name="Slide Number Placeholder 8"/>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5C8F3AC0-76DC-4C61-9AC8-E0E545C4AE8A}" type="slidenum">
              <a:rPr lang="ja-JP" altLang="en-US"/>
              <a:pPr>
                <a:defRPr/>
              </a:pPr>
              <a:t>‹#›</a:t>
            </a:fld>
            <a:endParaRPr lang="en-US" altLang="ja-JP" dirty="0"/>
          </a:p>
        </p:txBody>
      </p:sp>
    </p:spTree>
    <p:extLst>
      <p:ext uri="{BB962C8B-B14F-4D97-AF65-F5344CB8AC3E}">
        <p14:creationId xmlns="" xmlns:p14="http://schemas.microsoft.com/office/powerpoint/2010/main" val="2047403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4"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5"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EF1945DB-F095-4142-BFAE-B909CFF96B0C}" type="slidenum">
              <a:rPr lang="en-US" altLang="en-US"/>
              <a:pPr>
                <a:defRPr/>
              </a:pPr>
              <a:t>‹#›</a:t>
            </a:fld>
            <a:endParaRPr lang="en-US" altLang="en-US" dirty="0"/>
          </a:p>
        </p:txBody>
      </p:sp>
    </p:spTree>
    <p:extLst>
      <p:ext uri="{BB962C8B-B14F-4D97-AF65-F5344CB8AC3E}">
        <p14:creationId xmlns="" xmlns:p14="http://schemas.microsoft.com/office/powerpoint/2010/main" val="1887367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altLang="ja-JP" dirty="0"/>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141A02A0-A90B-453D-8DAA-70FC78355B37}" type="slidenum">
              <a:rPr lang="en-US" altLang="en-US"/>
              <a:pPr>
                <a:defRPr/>
              </a:pPr>
              <a:t>‹#›</a:t>
            </a:fld>
            <a:endParaRPr lang="en-US" altLang="en-US" dirty="0"/>
          </a:p>
        </p:txBody>
      </p:sp>
    </p:spTree>
    <p:extLst>
      <p:ext uri="{BB962C8B-B14F-4D97-AF65-F5344CB8AC3E}">
        <p14:creationId xmlns="" xmlns:p14="http://schemas.microsoft.com/office/powerpoint/2010/main" val="1858732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6"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7"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5EEC8960-A859-40C2-A14B-EB8324A3A918}" type="slidenum">
              <a:rPr lang="en-US" altLang="en-US"/>
              <a:pPr>
                <a:defRPr/>
              </a:pPr>
              <a:t>‹#›</a:t>
            </a:fld>
            <a:endParaRPr lang="en-US" altLang="en-US" dirty="0"/>
          </a:p>
        </p:txBody>
      </p:sp>
    </p:spTree>
    <p:extLst>
      <p:ext uri="{BB962C8B-B14F-4D97-AF65-F5344CB8AC3E}">
        <p14:creationId xmlns="" xmlns:p14="http://schemas.microsoft.com/office/powerpoint/2010/main" val="2731826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altLang="ja-JP" dirty="0"/>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B1996AE4-2993-40F9-AD42-C3061E2A1970}" type="slidenum">
              <a:rPr lang="ja-JP" altLang="en-US"/>
              <a:pPr>
                <a:defRPr/>
              </a:pPr>
              <a:t>‹#›</a:t>
            </a:fld>
            <a:endParaRPr lang="en-US" altLang="ja-JP" dirty="0"/>
          </a:p>
        </p:txBody>
      </p:sp>
    </p:spTree>
    <p:extLst>
      <p:ext uri="{BB962C8B-B14F-4D97-AF65-F5344CB8AC3E}">
        <p14:creationId xmlns="" xmlns:p14="http://schemas.microsoft.com/office/powerpoint/2010/main" val="2113137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CF0DEAAB-8758-4D28-B817-66C35A198AAD}" type="slidenum">
              <a:rPr lang="en-US" altLang="en-US"/>
              <a:pPr>
                <a:defRPr/>
              </a:pPr>
              <a:t>‹#›</a:t>
            </a:fld>
            <a:endParaRPr lang="en-US" altLang="en-US" dirty="0"/>
          </a:p>
        </p:txBody>
      </p:sp>
    </p:spTree>
    <p:extLst>
      <p:ext uri="{BB962C8B-B14F-4D97-AF65-F5344CB8AC3E}">
        <p14:creationId xmlns="" xmlns:p14="http://schemas.microsoft.com/office/powerpoint/2010/main" val="3460052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lvl1pPr>
              <a:defRPr/>
            </a:lvl1pPr>
          </a:lstStyle>
          <a:p>
            <a:pPr>
              <a:defRPr/>
            </a:pPr>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en-US" dirty="0"/>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43F3AD04-1D4D-48D5-87F9-E9321A564396}" type="slidenum">
              <a:rPr lang="en-US" altLang="en-US"/>
              <a:pPr>
                <a:defRPr/>
              </a:pPr>
              <a:t>‹#›</a:t>
            </a:fld>
            <a:endParaRPr lang="en-US" altLang="en-US" dirty="0"/>
          </a:p>
        </p:txBody>
      </p:sp>
    </p:spTree>
    <p:extLst>
      <p:ext uri="{BB962C8B-B14F-4D97-AF65-F5344CB8AC3E}">
        <p14:creationId xmlns="" xmlns:p14="http://schemas.microsoft.com/office/powerpoint/2010/main" val="3859982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2052" name="Group 15"/>
          <p:cNvGrpSpPr>
            <a:grpSpLocks/>
          </p:cNvGrpSpPr>
          <p:nvPr/>
        </p:nvGrpSpPr>
        <p:grpSpPr bwMode="auto">
          <a:xfrm>
            <a:off x="1" y="-11113"/>
            <a:ext cx="12272433" cy="6858001"/>
            <a:chOff x="0" y="-11089"/>
            <a:chExt cx="9203687" cy="6858000"/>
          </a:xfrm>
        </p:grpSpPr>
        <p:sp>
          <p:nvSpPr>
            <p:cNvPr id="2053" name="Rectangle 16"/>
            <p:cNvSpPr>
              <a:spLocks noChangeArrowheads="1"/>
            </p:cNvSpPr>
            <p:nvPr userDrawn="1"/>
          </p:nvSpPr>
          <p:spPr bwMode="auto">
            <a:xfrm>
              <a:off x="0" y="-11089"/>
              <a:ext cx="9176702" cy="6858000"/>
            </a:xfrm>
            <a:prstGeom prst="rect">
              <a:avLst/>
            </a:prstGeom>
            <a:solidFill>
              <a:srgbClr val="FFFFFF"/>
            </a:solidFill>
            <a:ln w="25400" algn="ctr">
              <a:solidFill>
                <a:srgbClr val="0070C0"/>
              </a:solidFill>
              <a:miter lim="800000"/>
              <a:headEnd type="none" w="sm" len="sm"/>
              <a:tailEnd type="none" w="sm" len="sm"/>
            </a:ln>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defRPr/>
              </a:pPr>
              <a:endParaRPr lang="en-IN" altLang="en-US" sz="2400" b="0" baseline="-25000" dirty="0">
                <a:solidFill>
                  <a:srgbClr val="000000"/>
                </a:solidFill>
                <a:latin typeface="Symbol" panose="05050102010706020507" pitchFamily="18" charset="2"/>
              </a:endParaRPr>
            </a:p>
          </p:txBody>
        </p:sp>
        <p:sp>
          <p:nvSpPr>
            <p:cNvPr id="2054" name="TextBox 17"/>
            <p:cNvSpPr txBox="1">
              <a:spLocks noChangeArrowheads="1"/>
            </p:cNvSpPr>
            <p:nvPr userDrawn="1"/>
          </p:nvSpPr>
          <p:spPr bwMode="auto">
            <a:xfrm>
              <a:off x="550825" y="47649"/>
              <a:ext cx="1007992"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defRPr/>
              </a:pPr>
              <a:r>
                <a:rPr lang="en-IN" altLang="en-US" sz="1000" b="0" dirty="0">
                  <a:solidFill>
                    <a:srgbClr val="000000"/>
                  </a:solidFill>
                  <a:latin typeface="Times New Roman" panose="02020603050405020304" pitchFamily="18" charset="0"/>
                </a:rPr>
                <a:t>RV College of</a:t>
              </a:r>
            </a:p>
            <a:p>
              <a:pPr eaLnBrk="1" hangingPunct="1">
                <a:defRPr/>
              </a:pPr>
              <a:r>
                <a:rPr lang="en-IN" altLang="en-US" sz="1000" b="0" dirty="0">
                  <a:solidFill>
                    <a:srgbClr val="000000"/>
                  </a:solidFill>
                  <a:latin typeface="Times New Roman" panose="02020603050405020304" pitchFamily="18" charset="0"/>
                </a:rPr>
                <a:t>Engineering</a:t>
              </a:r>
            </a:p>
          </p:txBody>
        </p:sp>
        <p:pic>
          <p:nvPicPr>
            <p:cNvPr id="2055" name="Picture 18"/>
            <p:cNvPicPr>
              <a:picLocks noChangeAspect="1"/>
            </p:cNvPicPr>
            <p:nvPr userDrawn="1"/>
          </p:nvPicPr>
          <p:blipFill>
            <a:blip r:embed="rId13" cstate="print">
              <a:extLst>
                <a:ext uri="{28A0092B-C50C-407E-A947-70E740481C1C}">
                  <a14:useLocalDpi xmlns="" xmlns:a14="http://schemas.microsoft.com/office/drawing/2010/main" val="0"/>
                </a:ext>
              </a:extLst>
            </a:blip>
            <a:srcRect/>
            <a:stretch>
              <a:fillRect/>
            </a:stretch>
          </p:blipFill>
          <p:spPr bwMode="auto">
            <a:xfrm>
              <a:off x="27603" y="25006"/>
              <a:ext cx="523845" cy="5238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20" name="Straight Connector 19"/>
            <p:cNvCxnSpPr/>
            <p:nvPr userDrawn="1"/>
          </p:nvCxnSpPr>
          <p:spPr bwMode="auto">
            <a:xfrm>
              <a:off x="0" y="609624"/>
              <a:ext cx="9203687" cy="0"/>
            </a:xfrm>
            <a:prstGeom prst="line">
              <a:avLst/>
            </a:prstGeom>
            <a:noFill/>
            <a:ln w="25400" cap="flat" cmpd="sng" algn="ctr">
              <a:solidFill>
                <a:srgbClr val="0070C0"/>
              </a:solidFill>
              <a:prstDash val="solid"/>
              <a:headEnd type="none" w="sm" len="sm"/>
              <a:tailEnd type="none" w="sm" len="sm"/>
            </a:ln>
            <a:effectLst>
              <a:outerShdw blurRad="40000" dist="20000" dir="5400000" rotWithShape="0">
                <a:srgbClr val="000000">
                  <a:alpha val="38000"/>
                </a:srgbClr>
              </a:outerShdw>
            </a:effectLst>
          </p:spPr>
        </p:cxnSp>
        <p:sp>
          <p:nvSpPr>
            <p:cNvPr id="2057" name="TextBox 20"/>
            <p:cNvSpPr txBox="1">
              <a:spLocks noChangeArrowheads="1"/>
            </p:cNvSpPr>
            <p:nvPr userDrawn="1"/>
          </p:nvSpPr>
          <p:spPr bwMode="auto">
            <a:xfrm>
              <a:off x="7086109" y="117499"/>
              <a:ext cx="2057257" cy="277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defRPr/>
              </a:pPr>
              <a:r>
                <a:rPr lang="en-IN" altLang="en-US" sz="1200" i="1" dirty="0">
                  <a:solidFill>
                    <a:srgbClr val="0070C0"/>
                  </a:solidFill>
                  <a:latin typeface="Bookman Old Style" panose="02050604050505020204" pitchFamily="18" charset="0"/>
                </a:rPr>
                <a:t>Go, Change the World</a:t>
              </a:r>
            </a:p>
          </p:txBody>
        </p:sp>
      </p:grpSp>
    </p:spTree>
    <p:extLst>
      <p:ext uri="{BB962C8B-B14F-4D97-AF65-F5344CB8AC3E}">
        <p14:creationId xmlns="" xmlns:p14="http://schemas.microsoft.com/office/powerpoint/2010/main" val="16195571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itchFamily="34" charset="0"/>
        </a:defRPr>
      </a:lvl5pPr>
      <a:lvl6pPr marL="457200" algn="l" defTabSz="685800" rtl="0" fontAlgn="base">
        <a:lnSpc>
          <a:spcPct val="90000"/>
        </a:lnSpc>
        <a:spcBef>
          <a:spcPct val="0"/>
        </a:spcBef>
        <a:spcAft>
          <a:spcPct val="0"/>
        </a:spcAft>
        <a:defRPr sz="3300">
          <a:solidFill>
            <a:schemeClr val="tx1"/>
          </a:solidFill>
          <a:latin typeface="Calibri Light" pitchFamily="34" charset="0"/>
        </a:defRPr>
      </a:lvl6pPr>
      <a:lvl7pPr marL="914400" algn="l" defTabSz="685800" rtl="0" fontAlgn="base">
        <a:lnSpc>
          <a:spcPct val="90000"/>
        </a:lnSpc>
        <a:spcBef>
          <a:spcPct val="0"/>
        </a:spcBef>
        <a:spcAft>
          <a:spcPct val="0"/>
        </a:spcAft>
        <a:defRPr sz="3300">
          <a:solidFill>
            <a:schemeClr val="tx1"/>
          </a:solidFill>
          <a:latin typeface="Calibri Light" pitchFamily="34" charset="0"/>
        </a:defRPr>
      </a:lvl7pPr>
      <a:lvl8pPr marL="1371600" algn="l" defTabSz="685800" rtl="0" fontAlgn="base">
        <a:lnSpc>
          <a:spcPct val="90000"/>
        </a:lnSpc>
        <a:spcBef>
          <a:spcPct val="0"/>
        </a:spcBef>
        <a:spcAft>
          <a:spcPct val="0"/>
        </a:spcAft>
        <a:defRPr sz="3300">
          <a:solidFill>
            <a:schemeClr val="tx1"/>
          </a:solidFill>
          <a:latin typeface="Calibri Light" pitchFamily="34" charset="0"/>
        </a:defRPr>
      </a:lvl8pPr>
      <a:lvl9pPr marL="1828800" algn="l" defTabSz="685800" rtl="0" fontAlgn="base">
        <a:lnSpc>
          <a:spcPct val="90000"/>
        </a:lnSpc>
        <a:spcBef>
          <a:spcPct val="0"/>
        </a:spcBef>
        <a:spcAft>
          <a:spcPct val="0"/>
        </a:spcAft>
        <a:defRPr sz="3300">
          <a:solidFill>
            <a:schemeClr val="tx1"/>
          </a:solidFill>
          <a:latin typeface="Calibri Light"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0U9KDQnIsNk"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youtube.com/watch?v=hQB-yXb4NN4" TargetMode="External"/><Relationship Id="rId4" Type="http://schemas.openxmlformats.org/officeDocument/2006/relationships/hyperlink" Target="https://www.youtube.com/watch?v=TVz6qKbYBm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ndiankanoon.org/doc/1942013/"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ndiankanoon.org/doc/1732536/" TargetMode="External"/><Relationship Id="rId2" Type="http://schemas.openxmlformats.org/officeDocument/2006/relationships/hyperlink" Target="https://indiankanoon.org/doc/1952106/" TargetMode="External"/><Relationship Id="rId1" Type="http://schemas.openxmlformats.org/officeDocument/2006/relationships/slideLayout" Target="../slideLayouts/slideLayout2.xml"/><Relationship Id="rId6" Type="http://schemas.openxmlformats.org/officeDocument/2006/relationships/hyperlink" Target="https://indiankanoon.org/doc/251667/" TargetMode="External"/><Relationship Id="rId5" Type="http://schemas.openxmlformats.org/officeDocument/2006/relationships/hyperlink" Target="https://indiankanoon.org/doc/1603957/" TargetMode="External"/><Relationship Id="rId4" Type="http://schemas.openxmlformats.org/officeDocument/2006/relationships/hyperlink" Target="https://indiankanoon.org/doc/820476/"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ndiankanoon.org/doc/386518/" TargetMode="External"/><Relationship Id="rId2" Type="http://schemas.openxmlformats.org/officeDocument/2006/relationships/hyperlink" Target="https://indiankanoon.org/doc/101196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ndiankanoon.org/doc/1746393/" TargetMode="External"/><Relationship Id="rId2" Type="http://schemas.openxmlformats.org/officeDocument/2006/relationships/hyperlink" Target="https://indiankanoon.org/doc/6803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indiankanoon.org/doc/258019/" TargetMode="External"/><Relationship Id="rId3" Type="http://schemas.openxmlformats.org/officeDocument/2006/relationships/hyperlink" Target="https://indiankanoon.org/doc/1378441/" TargetMode="External"/><Relationship Id="rId7" Type="http://schemas.openxmlformats.org/officeDocument/2006/relationships/hyperlink" Target="https://indiankanoon.org/doc/844404/" TargetMode="External"/><Relationship Id="rId2" Type="http://schemas.openxmlformats.org/officeDocument/2006/relationships/hyperlink" Target="https://indiankanoon.org/doc/1142233/" TargetMode="External"/><Relationship Id="rId1" Type="http://schemas.openxmlformats.org/officeDocument/2006/relationships/slideLayout" Target="../slideLayouts/slideLayout2.xml"/><Relationship Id="rId6" Type="http://schemas.openxmlformats.org/officeDocument/2006/relationships/hyperlink" Target="https://indiankanoon.org/doc/1024002/" TargetMode="External"/><Relationship Id="rId5" Type="http://schemas.openxmlformats.org/officeDocument/2006/relationships/hyperlink" Target="https://indiankanoon.org/doc/445304/" TargetMode="External"/><Relationship Id="rId10" Type="http://schemas.openxmlformats.org/officeDocument/2006/relationships/hyperlink" Target="https://indiankanoon.org/doc/493243/" TargetMode="External"/><Relationship Id="rId4" Type="http://schemas.openxmlformats.org/officeDocument/2006/relationships/hyperlink" Target="https://indiankanoon.org/doc/1248826/" TargetMode="External"/><Relationship Id="rId9" Type="http://schemas.openxmlformats.org/officeDocument/2006/relationships/hyperlink" Target="https://indiankanoon.org/doc/935769/"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indiankanoon.org/doc/49324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indiankanoon.org/doc/1801956/" TargetMode="External"/><Relationship Id="rId2" Type="http://schemas.openxmlformats.org/officeDocument/2006/relationships/hyperlink" Target="https://indiankanoon.org/doc/172340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ndiankanoon.org/doc/626103/" TargetMode="External"/><Relationship Id="rId2" Type="http://schemas.openxmlformats.org/officeDocument/2006/relationships/hyperlink" Target="https://indiankanoon.org/doc/1801593/" TargetMode="External"/><Relationship Id="rId1" Type="http://schemas.openxmlformats.org/officeDocument/2006/relationships/slideLayout" Target="../slideLayouts/slideLayout2.xml"/><Relationship Id="rId5" Type="http://schemas.openxmlformats.org/officeDocument/2006/relationships/hyperlink" Target="https://indiankanoon.org/doc/588489/" TargetMode="External"/><Relationship Id="rId4" Type="http://schemas.openxmlformats.org/officeDocument/2006/relationships/hyperlink" Target="https://indiankanoon.org/doc/1172678/"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indiankanoon.org/doc/17858/" TargetMode="External"/><Relationship Id="rId2" Type="http://schemas.openxmlformats.org/officeDocument/2006/relationships/hyperlink" Target="https://indiankanoon.org/doc/1501707/" TargetMode="External"/><Relationship Id="rId1" Type="http://schemas.openxmlformats.org/officeDocument/2006/relationships/slideLayout" Target="../slideLayouts/slideLayout2.xml"/><Relationship Id="rId4" Type="http://schemas.openxmlformats.org/officeDocument/2006/relationships/hyperlink" Target="https://indiankanoon.org/doc/36671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4327" y="0"/>
            <a:ext cx="7744691" cy="627063"/>
          </a:xfrm>
        </p:spPr>
        <p:txBody>
          <a:bodyPr/>
          <a:lstStyle/>
          <a:p>
            <a:pPr algn="ctr" eaLnBrk="1" hangingPunct="1"/>
            <a:r>
              <a:rPr lang="en-US" sz="4400" b="1" dirty="0">
                <a:solidFill>
                  <a:srgbClr val="FF0000"/>
                </a:solidFill>
                <a:latin typeface="Baskerville Old Face" pitchFamily="18" charset="0"/>
                <a:cs typeface="Times New Roman" pitchFamily="18" charset="0"/>
              </a:rPr>
              <a:t> </a:t>
            </a:r>
            <a:r>
              <a:rPr lang="en-US" sz="4400" b="1" dirty="0" smtClean="0">
                <a:solidFill>
                  <a:schemeClr val="tx2"/>
                </a:solidFill>
                <a:latin typeface="Baskerville Old Face" pitchFamily="18" charset="0"/>
                <a:cs typeface="Times New Roman" pitchFamily="18" charset="0"/>
              </a:rPr>
              <a:t>Indian Constitution</a:t>
            </a:r>
            <a:endParaRPr lang="en-IN" altLang="en-US" sz="4400" b="1" dirty="0">
              <a:solidFill>
                <a:schemeClr val="tx2"/>
              </a:solidFill>
              <a:latin typeface="Baskerville Old Face" pitchFamily="18" charset="0"/>
              <a:cs typeface="Times New Roman" pitchFamily="18" charset="0"/>
            </a:endParaRPr>
          </a:p>
        </p:txBody>
      </p:sp>
      <p:sp>
        <p:nvSpPr>
          <p:cNvPr id="5" name="Content Placeholder 2"/>
          <p:cNvSpPr>
            <a:spLocks noGrp="1"/>
          </p:cNvSpPr>
          <p:nvPr>
            <p:ph idx="4294967295"/>
          </p:nvPr>
        </p:nvSpPr>
        <p:spPr>
          <a:xfrm>
            <a:off x="706195" y="1034748"/>
            <a:ext cx="11134113" cy="5319159"/>
          </a:xfrm>
        </p:spPr>
        <p:txBody>
          <a:bodyPr/>
          <a:lstStyle/>
          <a:p>
            <a:pPr algn="ctr">
              <a:buFontTx/>
              <a:buNone/>
            </a:pPr>
            <a:r>
              <a:rPr lang="en-US" sz="3500" b="1" i="1" dirty="0" smtClean="0">
                <a:solidFill>
                  <a:srgbClr val="006600"/>
                </a:solidFill>
                <a:latin typeface="Times New Roman" panose="02020603050405020304" pitchFamily="18" charset="0"/>
                <a:cs typeface="Times New Roman" panose="02020603050405020304" pitchFamily="18" charset="0"/>
              </a:rPr>
              <a:t> UNIT –I</a:t>
            </a:r>
          </a:p>
          <a:p>
            <a:pPr>
              <a:buFontTx/>
              <a:buNone/>
            </a:pPr>
            <a:endParaRPr lang="en-US" sz="3000" b="1" i="1" dirty="0" smtClean="0">
              <a:solidFill>
                <a:srgbClr val="006600"/>
              </a:solidFill>
              <a:latin typeface="Times New Roman" panose="02020603050405020304" pitchFamily="18" charset="0"/>
              <a:cs typeface="Times New Roman" panose="02020603050405020304" pitchFamily="18" charset="0"/>
            </a:endParaRPr>
          </a:p>
          <a:p>
            <a:pPr>
              <a:buFontTx/>
              <a:buNone/>
            </a:pPr>
            <a:r>
              <a:rPr lang="en-US" sz="3000" b="1" i="1" dirty="0" smtClean="0">
                <a:solidFill>
                  <a:srgbClr val="006600"/>
                </a:solidFill>
                <a:latin typeface="Times New Roman" panose="02020603050405020304" pitchFamily="18" charset="0"/>
                <a:cs typeface="Times New Roman" panose="02020603050405020304" pitchFamily="18" charset="0"/>
              </a:rPr>
              <a:t>TOPICS COVERED:</a:t>
            </a:r>
          </a:p>
          <a:p>
            <a:r>
              <a:rPr lang="en-US" sz="3000" b="1" i="1" dirty="0" smtClean="0">
                <a:solidFill>
                  <a:srgbClr val="006600"/>
                </a:solidFill>
                <a:latin typeface="Times New Roman" panose="02020603050405020304" pitchFamily="18" charset="0"/>
                <a:cs typeface="Times New Roman" panose="02020603050405020304" pitchFamily="18" charset="0"/>
              </a:rPr>
              <a:t>Salient Features of Indian Constitution</a:t>
            </a:r>
          </a:p>
          <a:p>
            <a:r>
              <a:rPr lang="en-US" sz="3000" b="1" i="1" dirty="0" smtClean="0">
                <a:solidFill>
                  <a:srgbClr val="006600"/>
                </a:solidFill>
                <a:latin typeface="Times New Roman" panose="02020603050405020304" pitchFamily="18" charset="0"/>
                <a:cs typeface="Times New Roman" panose="02020603050405020304" pitchFamily="18" charset="0"/>
              </a:rPr>
              <a:t>Preamble of India Constitution and key concepts f the preamble</a:t>
            </a:r>
          </a:p>
          <a:p>
            <a:r>
              <a:rPr lang="en-US" sz="3000" b="1" i="1" dirty="0" smtClean="0">
                <a:solidFill>
                  <a:srgbClr val="006600"/>
                </a:solidFill>
                <a:latin typeface="Times New Roman" panose="02020603050405020304" pitchFamily="18" charset="0"/>
                <a:cs typeface="Times New Roman" panose="02020603050405020304" pitchFamily="18" charset="0"/>
              </a:rPr>
              <a:t>Fundamental Rights (FR’s)</a:t>
            </a:r>
          </a:p>
          <a:p>
            <a:pPr marL="0" indent="0" algn="r">
              <a:buNone/>
            </a:pPr>
            <a:r>
              <a:rPr lang="en-US" sz="2500" b="1" i="1" dirty="0" smtClean="0">
                <a:solidFill>
                  <a:srgbClr val="006600"/>
                </a:solidFill>
                <a:latin typeface="Times New Roman" panose="02020603050405020304" pitchFamily="18" charset="0"/>
                <a:cs typeface="Times New Roman" panose="02020603050405020304" pitchFamily="18" charset="0"/>
              </a:rPr>
              <a:t>By:</a:t>
            </a:r>
          </a:p>
          <a:p>
            <a:pPr marL="0" indent="0" algn="r">
              <a:buNone/>
            </a:pPr>
            <a:r>
              <a:rPr lang="en-US" sz="2500" b="1" i="1" dirty="0" smtClean="0">
                <a:solidFill>
                  <a:srgbClr val="006600"/>
                </a:solidFill>
                <a:latin typeface="Times New Roman" panose="02020603050405020304" pitchFamily="18" charset="0"/>
                <a:cs typeface="Times New Roman" panose="02020603050405020304" pitchFamily="18" charset="0"/>
              </a:rPr>
              <a:t>Ganashree K C</a:t>
            </a:r>
          </a:p>
          <a:p>
            <a:pPr marL="0" indent="0" algn="r">
              <a:buNone/>
            </a:pPr>
            <a:r>
              <a:rPr lang="en-US" sz="2500" b="1" i="1" dirty="0" smtClean="0">
                <a:solidFill>
                  <a:srgbClr val="006600"/>
                </a:solidFill>
                <a:latin typeface="Times New Roman" panose="02020603050405020304" pitchFamily="18" charset="0"/>
                <a:cs typeface="Times New Roman" panose="02020603050405020304" pitchFamily="18" charset="0"/>
              </a:rPr>
              <a:t>Assistant Professor</a:t>
            </a:r>
          </a:p>
          <a:p>
            <a:pPr marL="0" indent="0" algn="r">
              <a:buNone/>
            </a:pPr>
            <a:r>
              <a:rPr lang="en-US" sz="2500" b="1" i="1" dirty="0" smtClean="0">
                <a:solidFill>
                  <a:srgbClr val="006600"/>
                </a:solidFill>
                <a:latin typeface="Times New Roman" panose="02020603050405020304" pitchFamily="18" charset="0"/>
                <a:cs typeface="Times New Roman" panose="02020603050405020304" pitchFamily="18" charset="0"/>
              </a:rPr>
              <a:t>Department Of CSE</a:t>
            </a:r>
          </a:p>
          <a:p>
            <a:pPr marL="0" indent="0" algn="r">
              <a:buNone/>
            </a:pPr>
            <a:r>
              <a:rPr lang="en-US" sz="2500" b="1" i="1" dirty="0" smtClean="0">
                <a:solidFill>
                  <a:srgbClr val="006600"/>
                </a:solidFill>
                <a:latin typeface="Times New Roman" panose="02020603050405020304" pitchFamily="18" charset="0"/>
                <a:cs typeface="Times New Roman" panose="02020603050405020304" pitchFamily="18" charset="0"/>
              </a:rPr>
              <a:t>RV College of Engineering</a:t>
            </a:r>
          </a:p>
          <a:p>
            <a:pPr marL="0" indent="0" algn="r">
              <a:buNone/>
            </a:pPr>
            <a:endParaRPr lang="en-US" sz="2500" b="1" i="1" dirty="0" smtClean="0">
              <a:solidFill>
                <a:srgbClr val="006600"/>
              </a:solidFill>
              <a:latin typeface="Times New Roman" panose="02020603050405020304" pitchFamily="18" charset="0"/>
              <a:cs typeface="Times New Roman" panose="02020603050405020304" pitchFamily="18" charset="0"/>
            </a:endParaRPr>
          </a:p>
          <a:p>
            <a:pPr marL="0" indent="0" algn="r">
              <a:buNone/>
            </a:pPr>
            <a:endParaRPr lang="en-US" sz="3500" b="1" i="1" dirty="0" smtClean="0">
              <a:solidFill>
                <a:srgbClr val="006600"/>
              </a:solidFill>
              <a:latin typeface="Times New Roman" panose="02020603050405020304" pitchFamily="18" charset="0"/>
              <a:cs typeface="Times New Roman" panose="02020603050405020304" pitchFamily="18" charset="0"/>
            </a:endParaRPr>
          </a:p>
          <a:p>
            <a:pPr marL="0" indent="0" algn="r">
              <a:buNone/>
            </a:pPr>
            <a:endParaRPr lang="en-US" sz="3500" b="1" i="1" dirty="0">
              <a:solidFill>
                <a:srgbClr val="006600"/>
              </a:solidFill>
              <a:latin typeface="Times New Roman" panose="02020603050405020304" pitchFamily="18" charset="0"/>
              <a:cs typeface="Times New Roman" panose="02020603050405020304" pitchFamily="18" charset="0"/>
            </a:endParaRPr>
          </a:p>
          <a:p>
            <a:pPr>
              <a:buFontTx/>
              <a:buNone/>
            </a:pPr>
            <a:endParaRPr lang="en-US" dirty="0"/>
          </a:p>
        </p:txBody>
      </p:sp>
    </p:spTree>
    <p:extLst>
      <p:ext uri="{BB962C8B-B14F-4D97-AF65-F5344CB8AC3E}">
        <p14:creationId xmlns="" xmlns:p14="http://schemas.microsoft.com/office/powerpoint/2010/main" val="17680483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4327" y="0"/>
            <a:ext cx="7744691" cy="627063"/>
          </a:xfrm>
        </p:spPr>
        <p:txBody>
          <a:bodyPr/>
          <a:lstStyle/>
          <a:p>
            <a:pPr algn="ctr" eaLnBrk="1" hangingPunct="1"/>
            <a:r>
              <a:rPr lang="en-US" sz="4400" b="1" dirty="0">
                <a:solidFill>
                  <a:srgbClr val="FF0000"/>
                </a:solidFill>
                <a:latin typeface="Baskerville Old Face" pitchFamily="18" charset="0"/>
                <a:cs typeface="Times New Roman" pitchFamily="18" charset="0"/>
              </a:rPr>
              <a:t> </a:t>
            </a:r>
            <a:r>
              <a:rPr lang="en-US" sz="4400" b="1" dirty="0" smtClean="0">
                <a:solidFill>
                  <a:schemeClr val="tx2"/>
                </a:solidFill>
                <a:latin typeface="Baskerville Old Face" pitchFamily="18" charset="0"/>
                <a:cs typeface="Times New Roman" pitchFamily="18" charset="0"/>
              </a:rPr>
              <a:t>Indian Constitution</a:t>
            </a:r>
            <a:endParaRPr lang="en-IN" altLang="en-US" sz="4400" b="1" dirty="0">
              <a:solidFill>
                <a:schemeClr val="tx2"/>
              </a:solidFill>
              <a:latin typeface="Baskerville Old Face" pitchFamily="18" charset="0"/>
              <a:cs typeface="Times New Roman" pitchFamily="18" charset="0"/>
            </a:endParaRPr>
          </a:p>
        </p:txBody>
      </p:sp>
      <p:sp>
        <p:nvSpPr>
          <p:cNvPr id="4" name="Rectangle 3"/>
          <p:cNvSpPr/>
          <p:nvPr/>
        </p:nvSpPr>
        <p:spPr>
          <a:xfrm>
            <a:off x="175846" y="797171"/>
            <a:ext cx="12016154" cy="6001643"/>
          </a:xfrm>
          <a:prstGeom prst="rect">
            <a:avLst/>
          </a:prstGeom>
        </p:spPr>
        <p:txBody>
          <a:bodyPr wrap="square">
            <a:spAutoFit/>
          </a:bodyPr>
          <a:lstStyle/>
          <a:p>
            <a:pPr marL="404813" indent="-404813" algn="just">
              <a:buFont typeface="Wingdings" pitchFamily="2" charset="2"/>
              <a:buChar char="v"/>
            </a:pPr>
            <a:r>
              <a:rPr lang="en-US" sz="2400" dirty="0">
                <a:latin typeface="Times New Roman" pitchFamily="18" charset="0"/>
                <a:cs typeface="Times New Roman" pitchFamily="18" charset="0"/>
              </a:rPr>
              <a:t>The Constitution of India is a very dynamic creation of our lawmakers. </a:t>
            </a:r>
          </a:p>
          <a:p>
            <a:pPr marL="404813" indent="-404813" algn="just">
              <a:buFont typeface="Wingdings" pitchFamily="2" charset="2"/>
              <a:buChar char="v"/>
            </a:pPr>
            <a:r>
              <a:rPr lang="en-US" sz="2400" dirty="0">
                <a:latin typeface="Times New Roman" pitchFamily="18" charset="0"/>
                <a:cs typeface="Times New Roman" pitchFamily="18" charset="0"/>
              </a:rPr>
              <a:t>The Constitution of India as we all know is a supreme law of the country and every citizen of our country has to abide by the constitution</a:t>
            </a:r>
            <a:r>
              <a:rPr lang="en-US" sz="2400" dirty="0" smtClean="0">
                <a:latin typeface="Times New Roman" pitchFamily="18" charset="0"/>
                <a:cs typeface="Times New Roman" pitchFamily="18" charset="0"/>
              </a:rPr>
              <a:t>.</a:t>
            </a:r>
          </a:p>
          <a:p>
            <a:pPr marL="344488" indent="-344488">
              <a:buFont typeface="Wingdings" pitchFamily="2" charset="2"/>
              <a:buChar char="v"/>
            </a:pPr>
            <a:r>
              <a:rPr lang="en-US" sz="2400" dirty="0" smtClean="0">
                <a:latin typeface="Times New Roman" pitchFamily="18" charset="0"/>
                <a:cs typeface="Times New Roman" pitchFamily="18" charset="0"/>
              </a:rPr>
              <a:t>The Lengthiest Constitution of the World</a:t>
            </a:r>
          </a:p>
          <a:p>
            <a:r>
              <a:rPr lang="en-US" sz="2400" dirty="0" smtClean="0"/>
              <a:t>	</a:t>
            </a:r>
            <a:r>
              <a:rPr lang="en-US" sz="2400" dirty="0" smtClean="0">
                <a:latin typeface="Times New Roman" pitchFamily="18" charset="0"/>
                <a:cs typeface="Times New Roman" pitchFamily="18" charset="0"/>
              </a:rPr>
              <a:t>- There are 12 schedules and 448 articles in our Constitution</a:t>
            </a:r>
          </a:p>
          <a:p>
            <a:r>
              <a:rPr lang="en-US" sz="2400" dirty="0" smtClean="0">
                <a:latin typeface="Times New Roman" pitchFamily="18" charset="0"/>
                <a:cs typeface="Times New Roman" pitchFamily="18" charset="0"/>
              </a:rPr>
              <a:t>	- The parent document for drafting the Indian Constitution was the Government of 	   India Act 1935. </a:t>
            </a:r>
          </a:p>
          <a:p>
            <a:pPr marL="344488" indent="-344488">
              <a:buFont typeface="Wingdings" pitchFamily="2" charset="2"/>
              <a:buChar char="v"/>
            </a:pPr>
            <a:r>
              <a:rPr lang="en-US" sz="2400" dirty="0" smtClean="0">
                <a:latin typeface="Times New Roman" pitchFamily="18" charset="0"/>
                <a:cs typeface="Times New Roman" pitchFamily="18" charset="0"/>
              </a:rPr>
              <a:t>Establishment of a Sovereign, Socialist, Secular, Democratic Republic  </a:t>
            </a:r>
          </a:p>
          <a:p>
            <a:pPr marL="344488" indent="-344488">
              <a:buFont typeface="Wingdings" pitchFamily="2" charset="2"/>
              <a:buChar char="v"/>
            </a:pPr>
            <a:r>
              <a:rPr lang="en-US" sz="2400" dirty="0" smtClean="0">
                <a:latin typeface="Times New Roman" pitchFamily="18" charset="0"/>
                <a:cs typeface="Times New Roman" pitchFamily="18" charset="0"/>
              </a:rPr>
              <a:t> Parliamentary form of Government  </a:t>
            </a:r>
          </a:p>
          <a:p>
            <a:pPr marL="344488" indent="-344488">
              <a:buFont typeface="Wingdings" pitchFamily="2" charset="2"/>
              <a:buChar char="v"/>
            </a:pPr>
            <a:r>
              <a:rPr lang="en-US" sz="2400" dirty="0" smtClean="0">
                <a:latin typeface="Times New Roman" pitchFamily="18" charset="0"/>
                <a:cs typeface="Times New Roman" pitchFamily="18" charset="0"/>
              </a:rPr>
              <a:t>A unique blend of rigidity and flexibility  </a:t>
            </a:r>
          </a:p>
          <a:p>
            <a:pPr marL="344488" indent="-344488">
              <a:buFont typeface="Wingdings" pitchFamily="2" charset="2"/>
              <a:buChar char="v"/>
            </a:pPr>
            <a:r>
              <a:rPr lang="en-US" sz="2400" dirty="0" smtClean="0">
                <a:latin typeface="Times New Roman" pitchFamily="18" charset="0"/>
                <a:cs typeface="Times New Roman" pitchFamily="18" charset="0"/>
              </a:rPr>
              <a:t>Fundamental Rights </a:t>
            </a:r>
          </a:p>
          <a:p>
            <a:pPr marL="344488" indent="-344488">
              <a:buFont typeface="Wingdings" pitchFamily="2" charset="2"/>
              <a:buChar char="v"/>
            </a:pPr>
            <a:r>
              <a:rPr lang="en-US" sz="2400" dirty="0" smtClean="0">
                <a:latin typeface="Times New Roman" pitchFamily="18" charset="0"/>
                <a:cs typeface="Times New Roman" pitchFamily="18" charset="0"/>
              </a:rPr>
              <a:t>Directive Principles of State Policy </a:t>
            </a:r>
          </a:p>
          <a:p>
            <a:pPr marL="344488" indent="-344488">
              <a:buFont typeface="Wingdings" pitchFamily="2" charset="2"/>
              <a:buChar char="v"/>
            </a:pPr>
            <a:r>
              <a:rPr lang="en-US" sz="2400" dirty="0" smtClean="0">
                <a:latin typeface="Times New Roman" pitchFamily="18" charset="0"/>
                <a:cs typeface="Times New Roman" pitchFamily="18" charset="0"/>
              </a:rPr>
              <a:t>A Federation with a strong </a:t>
            </a:r>
            <a:r>
              <a:rPr lang="en-US" sz="2400" dirty="0" err="1" smtClean="0">
                <a:latin typeface="Times New Roman" pitchFamily="18" charset="0"/>
                <a:cs typeface="Times New Roman" pitchFamily="18" charset="0"/>
              </a:rPr>
              <a:t>centralising</a:t>
            </a:r>
            <a:r>
              <a:rPr lang="en-US" sz="2400" dirty="0" smtClean="0">
                <a:latin typeface="Times New Roman" pitchFamily="18" charset="0"/>
                <a:cs typeface="Times New Roman" pitchFamily="18" charset="0"/>
              </a:rPr>
              <a:t> tendency </a:t>
            </a:r>
          </a:p>
          <a:p>
            <a:pPr marL="344488" indent="-344488">
              <a:buFont typeface="Wingdings" pitchFamily="2" charset="2"/>
              <a:buChar char="v"/>
            </a:pPr>
            <a:r>
              <a:rPr lang="en-US" sz="2400" dirty="0" smtClean="0">
                <a:latin typeface="Times New Roman" pitchFamily="18" charset="0"/>
                <a:cs typeface="Times New Roman" pitchFamily="18" charset="0"/>
              </a:rPr>
              <a:t>Adult suffrage </a:t>
            </a:r>
          </a:p>
          <a:p>
            <a:pPr marL="344488" indent="-344488">
              <a:buFont typeface="Wingdings" pitchFamily="2" charset="2"/>
              <a:buChar char="v"/>
            </a:pPr>
            <a:r>
              <a:rPr lang="en-US" sz="2400" dirty="0" smtClean="0">
                <a:latin typeface="Times New Roman" pitchFamily="18" charset="0"/>
                <a:cs typeface="Times New Roman" pitchFamily="18" charset="0"/>
              </a:rPr>
              <a:t>An Independent Judiciary </a:t>
            </a:r>
          </a:p>
          <a:p>
            <a:pPr marL="404813" indent="-404813" algn="just"/>
            <a:endParaRPr lang="en-US" sz="2400" dirty="0">
              <a:latin typeface="Times New Roman" pitchFamily="18" charset="0"/>
              <a:cs typeface="Times New Roman" pitchFamily="18" charset="0"/>
            </a:endParaRPr>
          </a:p>
        </p:txBody>
      </p:sp>
      <p:sp>
        <p:nvSpPr>
          <p:cNvPr id="6" name="Rectangle 5"/>
          <p:cNvSpPr/>
          <p:nvPr/>
        </p:nvSpPr>
        <p:spPr>
          <a:xfrm>
            <a:off x="7836877" y="4835768"/>
            <a:ext cx="3124200" cy="1323439"/>
          </a:xfrm>
          <a:prstGeom prst="rect">
            <a:avLst/>
          </a:prstGeom>
        </p:spPr>
        <p:txBody>
          <a:bodyPr wrap="square">
            <a:spAutoFit/>
          </a:bodyPr>
          <a:lstStyle/>
          <a:p>
            <a:pPr marL="344488" indent="-344488">
              <a:buFont typeface="Wingdings" pitchFamily="2" charset="2"/>
              <a:buChar char="v"/>
            </a:pPr>
            <a:r>
              <a:rPr lang="en-US" sz="2000" dirty="0">
                <a:latin typeface="Times New Roman" pitchFamily="18" charset="0"/>
                <a:cs typeface="Times New Roman" pitchFamily="18" charset="0"/>
              </a:rPr>
              <a:t>A Secular State</a:t>
            </a:r>
          </a:p>
          <a:p>
            <a:pPr marL="344488" indent="-344488">
              <a:buFont typeface="Wingdings" pitchFamily="2" charset="2"/>
              <a:buChar char="v"/>
            </a:pPr>
            <a:r>
              <a:rPr lang="en-US" sz="2000" dirty="0">
                <a:latin typeface="Times New Roman" pitchFamily="18" charset="0"/>
                <a:cs typeface="Times New Roman" pitchFamily="18" charset="0"/>
              </a:rPr>
              <a:t>Single Citizenship </a:t>
            </a:r>
          </a:p>
          <a:p>
            <a:pPr marL="344488" indent="-344488">
              <a:buFont typeface="Wingdings" pitchFamily="2" charset="2"/>
              <a:buChar char="v"/>
            </a:pPr>
            <a:r>
              <a:rPr lang="en-US" sz="2000" dirty="0">
                <a:latin typeface="Times New Roman" pitchFamily="18" charset="0"/>
                <a:cs typeface="Times New Roman" pitchFamily="18" charset="0"/>
              </a:rPr>
              <a:t>Fundamental Duties </a:t>
            </a:r>
          </a:p>
          <a:p>
            <a:pPr marL="344488" indent="-344488">
              <a:buFont typeface="Wingdings" pitchFamily="2" charset="2"/>
              <a:buChar char="v"/>
            </a:pPr>
            <a:r>
              <a:rPr lang="en-US" sz="2000" dirty="0">
                <a:latin typeface="Times New Roman" pitchFamily="18" charset="0"/>
                <a:cs typeface="Times New Roman" pitchFamily="18" charset="0"/>
              </a:rPr>
              <a:t>Judicial Review  </a:t>
            </a:r>
          </a:p>
        </p:txBody>
      </p:sp>
    </p:spTree>
    <p:extLst>
      <p:ext uri="{BB962C8B-B14F-4D97-AF65-F5344CB8AC3E}">
        <p14:creationId xmlns="" xmlns:p14="http://schemas.microsoft.com/office/powerpoint/2010/main" val="17680483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48861" y="2241433"/>
            <a:ext cx="9026769" cy="2400657"/>
          </a:xfrm>
          <a:prstGeom prst="rect">
            <a:avLst/>
          </a:prstGeom>
          <a:noFill/>
        </p:spPr>
        <p:txBody>
          <a:bodyPr wrap="square">
            <a:spAutoFit/>
          </a:bodyPr>
          <a:lstStyle/>
          <a:p>
            <a:pPr algn="ctr">
              <a:defRPr/>
            </a:pPr>
            <a:r>
              <a:rPr lang="en-US" sz="3000" dirty="0">
                <a:solidFill>
                  <a:srgbClr val="FF0000"/>
                </a:solidFill>
                <a:latin typeface="Times New Roman" pitchFamily="18" charset="0"/>
                <a:cs typeface="Times New Roman" pitchFamily="18" charset="0"/>
                <a:hlinkClick r:id="rId3"/>
              </a:rPr>
              <a:t>https://</a:t>
            </a:r>
            <a:r>
              <a:rPr lang="en-US" sz="3000" dirty="0" smtClean="0">
                <a:solidFill>
                  <a:srgbClr val="FF0000"/>
                </a:solidFill>
                <a:latin typeface="Times New Roman" pitchFamily="18" charset="0"/>
                <a:cs typeface="Times New Roman" pitchFamily="18" charset="0"/>
                <a:hlinkClick r:id="rId3"/>
              </a:rPr>
              <a:t>www.youtube.com/watch?v=0U9KDQnIsNk</a:t>
            </a:r>
            <a:endParaRPr lang="en-US" sz="3000" dirty="0" smtClean="0">
              <a:solidFill>
                <a:srgbClr val="FF0000"/>
              </a:solidFill>
              <a:latin typeface="Times New Roman" pitchFamily="18" charset="0"/>
              <a:cs typeface="Times New Roman" pitchFamily="18" charset="0"/>
            </a:endParaRPr>
          </a:p>
          <a:p>
            <a:pPr algn="ctr">
              <a:defRPr/>
            </a:pPr>
            <a:r>
              <a:rPr lang="en-US" sz="3000" dirty="0" smtClean="0">
                <a:solidFill>
                  <a:srgbClr val="FF0000"/>
                </a:solidFill>
                <a:latin typeface="Times New Roman" pitchFamily="18" charset="0"/>
                <a:cs typeface="Times New Roman" pitchFamily="18" charset="0"/>
                <a:hlinkClick r:id="rId4"/>
              </a:rPr>
              <a:t>https</a:t>
            </a:r>
            <a:r>
              <a:rPr lang="en-US" sz="3000" dirty="0">
                <a:solidFill>
                  <a:srgbClr val="FF0000"/>
                </a:solidFill>
                <a:latin typeface="Times New Roman" pitchFamily="18" charset="0"/>
                <a:cs typeface="Times New Roman" pitchFamily="18" charset="0"/>
                <a:hlinkClick r:id="rId4"/>
              </a:rPr>
              <a:t>://</a:t>
            </a:r>
            <a:r>
              <a:rPr lang="en-US" sz="3000" dirty="0" smtClean="0">
                <a:solidFill>
                  <a:srgbClr val="FF0000"/>
                </a:solidFill>
                <a:latin typeface="Times New Roman" pitchFamily="18" charset="0"/>
                <a:cs typeface="Times New Roman" pitchFamily="18" charset="0"/>
                <a:hlinkClick r:id="rId4"/>
              </a:rPr>
              <a:t>www.youtube.com/watch?v=TVz6qKbYBmE</a:t>
            </a:r>
            <a:endParaRPr lang="en-US" sz="3000" dirty="0" smtClean="0">
              <a:solidFill>
                <a:srgbClr val="FF0000"/>
              </a:solidFill>
              <a:latin typeface="Times New Roman" pitchFamily="18" charset="0"/>
              <a:cs typeface="Times New Roman" pitchFamily="18" charset="0"/>
            </a:endParaRPr>
          </a:p>
          <a:p>
            <a:pPr algn="ctr">
              <a:defRPr/>
            </a:pPr>
            <a:endParaRPr lang="en-US" sz="3000" dirty="0" smtClean="0">
              <a:solidFill>
                <a:srgbClr val="FF0000"/>
              </a:solidFill>
              <a:latin typeface="Times New Roman" pitchFamily="18" charset="0"/>
              <a:cs typeface="Times New Roman" pitchFamily="18" charset="0"/>
            </a:endParaRPr>
          </a:p>
          <a:p>
            <a:pPr algn="ctr">
              <a:defRPr/>
            </a:pPr>
            <a:r>
              <a:rPr lang="en-US" sz="3000" dirty="0">
                <a:solidFill>
                  <a:srgbClr val="FF0000"/>
                </a:solidFill>
                <a:latin typeface="Times New Roman" pitchFamily="18" charset="0"/>
                <a:cs typeface="Times New Roman" pitchFamily="18" charset="0"/>
                <a:hlinkClick r:id="rId5"/>
              </a:rPr>
              <a:t>https://</a:t>
            </a:r>
            <a:r>
              <a:rPr lang="en-US" sz="3000" dirty="0" smtClean="0">
                <a:solidFill>
                  <a:srgbClr val="FF0000"/>
                </a:solidFill>
                <a:latin typeface="Times New Roman" pitchFamily="18" charset="0"/>
                <a:cs typeface="Times New Roman" pitchFamily="18" charset="0"/>
                <a:hlinkClick r:id="rId5"/>
              </a:rPr>
              <a:t>www.youtube.com/watch?v=hQB-yXb4NN4</a:t>
            </a:r>
            <a:endParaRPr lang="en-US" sz="3000" dirty="0" smtClean="0">
              <a:solidFill>
                <a:srgbClr val="FF0000"/>
              </a:solidFill>
              <a:latin typeface="Times New Roman" pitchFamily="18" charset="0"/>
              <a:cs typeface="Times New Roman" pitchFamily="18" charset="0"/>
            </a:endParaRPr>
          </a:p>
          <a:p>
            <a:pPr algn="ctr">
              <a:defRPr/>
            </a:pPr>
            <a:endParaRPr lang="en-US" sz="30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12471" y="695980"/>
            <a:ext cx="5943600" cy="523220"/>
          </a:xfrm>
          <a:prstGeom prst="rect">
            <a:avLst/>
          </a:prstGeom>
        </p:spPr>
        <p:txBody>
          <a:bodyPr wrap="square">
            <a:spAutoFit/>
          </a:bodyPr>
          <a:lstStyle/>
          <a:p>
            <a:r>
              <a:rPr lang="en-US" dirty="0"/>
              <a:t> </a:t>
            </a:r>
            <a:r>
              <a:rPr lang="en-US" sz="2800" b="1" dirty="0">
                <a:solidFill>
                  <a:srgbClr val="FF0000"/>
                </a:solidFill>
                <a:latin typeface="Times New Roman" pitchFamily="18" charset="0"/>
                <a:cs typeface="Times New Roman" pitchFamily="18" charset="0"/>
              </a:rPr>
              <a:t>Preamble to the Constitution of India </a:t>
            </a:r>
            <a:endParaRPr lang="en-US" sz="2800" dirty="0">
              <a:solidFill>
                <a:srgbClr val="FF0000"/>
              </a:solidFill>
              <a:latin typeface="Times New Roman" pitchFamily="18" charset="0"/>
              <a:cs typeface="Times New Roman" pitchFamily="18" charset="0"/>
            </a:endParaRPr>
          </a:p>
        </p:txBody>
      </p:sp>
      <p:sp>
        <p:nvSpPr>
          <p:cNvPr id="5" name="Rectangle 4"/>
          <p:cNvSpPr/>
          <p:nvPr/>
        </p:nvSpPr>
        <p:spPr>
          <a:xfrm>
            <a:off x="158260" y="1101969"/>
            <a:ext cx="12033739" cy="830997"/>
          </a:xfrm>
          <a:prstGeom prst="rect">
            <a:avLst/>
          </a:prstGeom>
        </p:spPr>
        <p:txBody>
          <a:bodyPr wrap="square">
            <a:spAutoFit/>
          </a:bodyPr>
          <a:lstStyle/>
          <a:p>
            <a:pPr algn="just"/>
            <a:r>
              <a:rPr lang="en-US" sz="2400" dirty="0">
                <a:latin typeface="Times New Roman" pitchFamily="18" charset="0"/>
                <a:cs typeface="Times New Roman" pitchFamily="18" charset="0"/>
              </a:rPr>
              <a:t>A preamble is an introductory statement in a document that explains the document’s philosophy and objectives </a:t>
            </a:r>
          </a:p>
        </p:txBody>
      </p:sp>
      <p:sp>
        <p:nvSpPr>
          <p:cNvPr id="8" name="Rectangle 7"/>
          <p:cNvSpPr/>
          <p:nvPr/>
        </p:nvSpPr>
        <p:spPr>
          <a:xfrm>
            <a:off x="58614" y="1916723"/>
            <a:ext cx="12133385" cy="3785652"/>
          </a:xfrm>
          <a:prstGeom prst="rect">
            <a:avLst/>
          </a:prstGeom>
        </p:spPr>
        <p:txBody>
          <a:bodyPr wrap="square">
            <a:spAutoFit/>
          </a:bodyPr>
          <a:lstStyle/>
          <a:p>
            <a:pPr marL="404813" indent="-404813" algn="just">
              <a:buFont typeface="Wingdings" pitchFamily="2" charset="2"/>
              <a:buChar char="Ø"/>
            </a:pPr>
            <a:r>
              <a:rPr lang="en-US" sz="2400" dirty="0">
                <a:latin typeface="Times New Roman" pitchFamily="18" charset="0"/>
                <a:cs typeface="Times New Roman" pitchFamily="18" charset="0"/>
              </a:rPr>
              <a:t>It presents the intention of its framers, the history behind its creation, and the core values and principles of the nation. </a:t>
            </a:r>
          </a:p>
          <a:p>
            <a:pPr marL="404813" indent="-404813" algn="just">
              <a:buFont typeface="Wingdings" pitchFamily="2" charset="2"/>
              <a:buChar char="Ø"/>
            </a:pPr>
            <a:r>
              <a:rPr lang="en-US" sz="2400" dirty="0">
                <a:latin typeface="Times New Roman" pitchFamily="18" charset="0"/>
                <a:cs typeface="Times New Roman" pitchFamily="18" charset="0"/>
              </a:rPr>
              <a:t>The Preamble to Constitution of India is guidelines to guide people of the nation, to present the principles of the Constitution, to indicate the source from which the document derives its authority, and meaning. </a:t>
            </a:r>
          </a:p>
          <a:p>
            <a:pPr marL="404813" indent="-404813" algn="just">
              <a:buFont typeface="Wingdings" pitchFamily="2" charset="2"/>
              <a:buChar char="Ø"/>
            </a:pPr>
            <a:r>
              <a:rPr lang="en-US" sz="2400" dirty="0">
                <a:latin typeface="Times New Roman" pitchFamily="18" charset="0"/>
                <a:cs typeface="Times New Roman" pitchFamily="18" charset="0"/>
              </a:rPr>
              <a:t>The preamble can be referred to as the preface which highlights the entire Constitution. </a:t>
            </a:r>
          </a:p>
          <a:p>
            <a:pPr marL="404813" indent="-404813" algn="just">
              <a:buFont typeface="Wingdings" pitchFamily="2" charset="2"/>
              <a:buChar char="Ø"/>
            </a:pPr>
            <a:r>
              <a:rPr lang="en-US" sz="2400" dirty="0">
                <a:latin typeface="Times New Roman" pitchFamily="18" charset="0"/>
                <a:cs typeface="Times New Roman" pitchFamily="18" charset="0"/>
              </a:rPr>
              <a:t>It was adopted on 26 November 1949 by the Constituent Assembly and came into effect on 26 January 1950, celebrated as the Republic day in India. Preamble was made in 1947 but adopted in 1949. </a:t>
            </a:r>
            <a:endParaRPr lang="en-US" sz="2400" dirty="0" smtClean="0">
              <a:latin typeface="Times New Roman" pitchFamily="18" charset="0"/>
              <a:cs typeface="Times New Roman" pitchFamily="18" charset="0"/>
            </a:endParaRPr>
          </a:p>
          <a:p>
            <a:pPr marL="404813" indent="-404813" algn="just">
              <a:buFont typeface="Wingdings" pitchFamily="2" charset="2"/>
              <a:buChar char="Ø"/>
            </a:pPr>
            <a:endParaRPr 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41769324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6538" y="715108"/>
            <a:ext cx="11846170" cy="4089004"/>
          </a:xfrm>
          <a:prstGeom prst="rect">
            <a:avLst/>
          </a:prstGeom>
        </p:spPr>
        <p:txBody>
          <a:bodyPr wrap="square">
            <a:spAutoFit/>
          </a:bodyPr>
          <a:lstStyle/>
          <a:p>
            <a:r>
              <a:rPr lang="en-US" sz="2400" dirty="0">
                <a:latin typeface="Times New Roman" pitchFamily="18" charset="0"/>
                <a:cs typeface="Times New Roman" pitchFamily="18" charset="0"/>
              </a:rPr>
              <a:t>The Preamble reads: </a:t>
            </a:r>
          </a:p>
          <a:p>
            <a:endParaRPr lang="en-US" sz="1000" dirty="0">
              <a:latin typeface="Times New Roman" pitchFamily="18" charset="0"/>
              <a:cs typeface="Times New Roman" pitchFamily="18" charset="0"/>
            </a:endParaRP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WE, THE PEOPLE OF INDIA, having solemnly resolved to constitute India into a SOVEREIGN SOCIALIST SECULAR DEMOCRATIC REPUBLIC and to secure to all its citizens: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JUSTICE, social, economic and political;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LIBERTY of thought, expression, belief, faith and worship;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EQUALITY of status and of opportunity;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and to promote among them all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FRATERNITY assuring the dignity of the individual and the unity and integrity of the Nation; </a:t>
            </a:r>
          </a:p>
          <a:p>
            <a:pPr marL="465138" indent="-465138">
              <a:lnSpc>
                <a:spcPct val="114000"/>
              </a:lnSpc>
              <a:buFont typeface="Wingdings" pitchFamily="2" charset="2"/>
              <a:buChar char="Ø"/>
            </a:pPr>
            <a:r>
              <a:rPr lang="en-US" sz="2200" dirty="0">
                <a:latin typeface="Times New Roman" pitchFamily="18" charset="0"/>
                <a:cs typeface="Times New Roman" pitchFamily="18" charset="0"/>
              </a:rPr>
              <a:t>IN OUR CONSTITUENT ASSEMBLY this twenty-sixth day of November, 1949, DO HEREBY ADOPT, ENACT AND GIVE TO OURSELVES THIS CONSTITUTION.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93910" y="1515293"/>
            <a:ext cx="10734266" cy="1946687"/>
          </a:xfrm>
          <a:prstGeom prst="rect">
            <a:avLst/>
          </a:prstGeom>
          <a:noFill/>
        </p:spPr>
        <p:txBody>
          <a:bodyPr wrap="square">
            <a:spAutoFit/>
          </a:bodyPr>
          <a:lstStyle/>
          <a:p>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pic>
        <p:nvPicPr>
          <p:cNvPr id="2050" name="Picture 2" descr="D:\PROFESSIONAL\CIPE_2021_SEVENTH_SEMESTE\preamble_of_our_Constitution.jpe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165231" y="1101969"/>
            <a:ext cx="5193323" cy="555600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6018178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6086282"/>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Fundamental rights in India  are the rights guaranteed under Part III (Articles 12-35) of the </a:t>
            </a:r>
            <a:r>
              <a:rPr lang="en-US" sz="2300" dirty="0" smtClean="0">
                <a:latin typeface="Times New Roman" panose="02020603050405020304" pitchFamily="18" charset="0"/>
                <a:cs typeface="Times New Roman" panose="02020603050405020304" pitchFamily="18" charset="0"/>
              </a:rPr>
              <a:t> Constitution </a:t>
            </a:r>
            <a:r>
              <a:rPr lang="en-US" sz="2300" dirty="0">
                <a:latin typeface="Times New Roman" panose="02020603050405020304" pitchFamily="18" charset="0"/>
                <a:cs typeface="Times New Roman" panose="02020603050405020304" pitchFamily="18" charset="0"/>
              </a:rPr>
              <a:t>of India</a:t>
            </a:r>
            <a:r>
              <a:rPr lang="en-US" sz="2300" dirty="0" smtClean="0">
                <a:latin typeface="Times New Roman" panose="02020603050405020304" pitchFamily="18" charset="0"/>
                <a:cs typeface="Times New Roman" panose="02020603050405020304" pitchFamily="18" charset="0"/>
              </a:rPr>
              <a:t>.</a:t>
            </a: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There are six fundamental rights (Article 12  -  35) </a:t>
            </a:r>
            <a:r>
              <a:rPr lang="en-US" sz="2300" dirty="0" smtClean="0">
                <a:latin typeface="Times New Roman" panose="02020603050405020304" pitchFamily="18" charset="0"/>
                <a:cs typeface="Times New Roman" panose="02020603050405020304" pitchFamily="18" charset="0"/>
              </a:rPr>
              <a:t>recognized </a:t>
            </a:r>
            <a:r>
              <a:rPr lang="en-US" sz="2300" dirty="0">
                <a:latin typeface="Times New Roman" panose="02020603050405020304" pitchFamily="18" charset="0"/>
                <a:cs typeface="Times New Roman" panose="02020603050405020304" pitchFamily="18" charset="0"/>
              </a:rPr>
              <a:t>by the </a:t>
            </a:r>
            <a:r>
              <a:rPr lang="en-US" sz="2300" dirty="0" smtClean="0">
                <a:latin typeface="Times New Roman" panose="02020603050405020304" pitchFamily="18" charset="0"/>
                <a:cs typeface="Times New Roman" panose="02020603050405020304" pitchFamily="18" charset="0"/>
              </a:rPr>
              <a:t> Indian </a:t>
            </a:r>
            <a:r>
              <a:rPr lang="en-US" sz="2300" dirty="0">
                <a:latin typeface="Times New Roman" panose="02020603050405020304" pitchFamily="18" charset="0"/>
                <a:cs typeface="Times New Roman" panose="02020603050405020304" pitchFamily="18" charset="0"/>
              </a:rPr>
              <a:t>constitution : </a:t>
            </a:r>
            <a:endParaRPr lang="en-US" sz="2300" dirty="0" smtClean="0">
              <a:latin typeface="Times New Roman" panose="02020603050405020304" pitchFamily="18" charset="0"/>
              <a:cs typeface="Times New Roman" panose="02020603050405020304" pitchFamily="18" charset="0"/>
            </a:endParaRPr>
          </a:p>
          <a:p>
            <a:endParaRPr lang="en-US" sz="23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right to equality (Articles 14-18</a:t>
            </a:r>
            <a:r>
              <a:rPr lang="en-US" sz="23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the right to freedom (Articles 19-22</a:t>
            </a:r>
            <a:r>
              <a:rPr lang="en-US" sz="23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the right against exploitation (Articles 23-24), </a:t>
            </a:r>
            <a:endParaRPr lang="en-US" sz="23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 the </a:t>
            </a:r>
            <a:r>
              <a:rPr lang="en-US" sz="2300" dirty="0">
                <a:latin typeface="Times New Roman" panose="02020603050405020304" pitchFamily="18" charset="0"/>
                <a:cs typeface="Times New Roman" panose="02020603050405020304" pitchFamily="18" charset="0"/>
              </a:rPr>
              <a:t>right to freedom of religion (Articles </a:t>
            </a:r>
            <a:r>
              <a:rPr lang="en-US" sz="2300" dirty="0" smtClean="0">
                <a:latin typeface="Times New Roman" panose="02020603050405020304" pitchFamily="18" charset="0"/>
                <a:cs typeface="Times New Roman" panose="02020603050405020304" pitchFamily="18" charset="0"/>
              </a:rPr>
              <a:t>25-28)</a:t>
            </a: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cultural and educational rights (Articles 29-30) </a:t>
            </a:r>
            <a:endParaRPr lang="en-US" sz="23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right to constitutional </a:t>
            </a:r>
            <a:r>
              <a:rPr lang="en-US" sz="2300" dirty="0" smtClean="0">
                <a:latin typeface="Times New Roman" panose="02020603050405020304" pitchFamily="18" charset="0"/>
                <a:cs typeface="Times New Roman" panose="02020603050405020304" pitchFamily="18" charset="0"/>
              </a:rPr>
              <a:t> remedies </a:t>
            </a:r>
            <a:r>
              <a:rPr lang="en-US" sz="2300" dirty="0">
                <a:latin typeface="Times New Roman" panose="02020603050405020304" pitchFamily="18" charset="0"/>
                <a:cs typeface="Times New Roman" panose="02020603050405020304" pitchFamily="18" charset="0"/>
              </a:rPr>
              <a:t>(Article 32 and 226).</a:t>
            </a:r>
          </a:p>
          <a:p>
            <a:endParaRPr lang="en-US" sz="2000" dirty="0"/>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19866014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6624891"/>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14:</a:t>
            </a:r>
          </a:p>
          <a:p>
            <a:endParaRPr lang="en-US" sz="23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    Equality </a:t>
            </a:r>
            <a:r>
              <a:rPr lang="en-IN" sz="2400" dirty="0">
                <a:latin typeface="Times New Roman" panose="02020603050405020304" pitchFamily="18" charset="0"/>
                <a:cs typeface="Times New Roman" panose="02020603050405020304" pitchFamily="18" charset="0"/>
              </a:rPr>
              <a:t>before law </a:t>
            </a:r>
            <a:r>
              <a:rPr lang="en-IN" sz="2400" dirty="0" smtClean="0">
                <a:latin typeface="Times New Roman" panose="02020603050405020304" pitchFamily="18" charset="0"/>
                <a:cs typeface="Times New Roman" panose="02020603050405020304" pitchFamily="18" charset="0"/>
              </a:rPr>
              <a:t>:</a:t>
            </a:r>
          </a:p>
          <a:p>
            <a:pPr algn="just"/>
            <a:r>
              <a:rPr lang="en-IN" sz="2400" dirty="0" smtClean="0">
                <a:latin typeface="Times New Roman" panose="02020603050405020304" pitchFamily="18" charset="0"/>
                <a:cs typeface="Times New Roman" panose="02020603050405020304" pitchFamily="18" charset="0"/>
              </a:rPr>
              <a:t>            The </a:t>
            </a:r>
            <a:r>
              <a:rPr lang="en-IN" sz="2400" dirty="0">
                <a:latin typeface="Times New Roman" panose="02020603050405020304" pitchFamily="18" charset="0"/>
                <a:cs typeface="Times New Roman" panose="02020603050405020304" pitchFamily="18" charset="0"/>
              </a:rPr>
              <a:t>State shall not deny to any person equality before the law or the equal protection of the laws within the territory of India Prohibition of discrimination on grounds of religion, race, caste, sex or place of birth</a:t>
            </a: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3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a:solidFill>
                  <a:schemeClr val="accent1">
                    <a:lumMod val="75000"/>
                  </a:schemeClr>
                </a:solidFill>
                <a:latin typeface="Times New Roman" panose="02020603050405020304" pitchFamily="18" charset="0"/>
                <a:cs typeface="Times New Roman" panose="02020603050405020304" pitchFamily="18" charset="0"/>
              </a:rPr>
              <a:t>Article 15:</a:t>
            </a:r>
          </a:p>
          <a:p>
            <a:r>
              <a:rPr lang="en-US" dirty="0" smtClean="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Prohibition </a:t>
            </a:r>
            <a:r>
              <a:rPr lang="en-IN" sz="2000" dirty="0">
                <a:latin typeface="Times New Roman" panose="02020603050405020304" pitchFamily="18" charset="0"/>
                <a:cs typeface="Times New Roman" panose="02020603050405020304" pitchFamily="18" charset="0"/>
              </a:rPr>
              <a:t>of discrimination on grounds of religion, race, caste, sex or place of </a:t>
            </a:r>
            <a:r>
              <a:rPr lang="en-IN" sz="2000" dirty="0" smtClean="0">
                <a:latin typeface="Times New Roman" panose="02020603050405020304" pitchFamily="18" charset="0"/>
                <a:cs typeface="Times New Roman" panose="02020603050405020304" pitchFamily="18" charset="0"/>
              </a:rPr>
              <a:t>birth.</a:t>
            </a:r>
          </a:p>
          <a:p>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2"/>
              </a:rPr>
              <a:t>(1)</a:t>
            </a:r>
            <a:r>
              <a:rPr lang="en-IN" sz="2000" dirty="0">
                <a:latin typeface="Times New Roman" panose="02020603050405020304" pitchFamily="18" charset="0"/>
                <a:cs typeface="Times New Roman" panose="02020603050405020304" pitchFamily="18" charset="0"/>
              </a:rPr>
              <a:t> The State shall not discriminate against any citizen on grounds only of religion, race, caste, sex, place of birth or any of them</a:t>
            </a:r>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40465352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5947782"/>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pPr algn="ctr"/>
            <a:endParaRPr lang="en-US" sz="2300" b="1" dirty="0">
              <a:solidFill>
                <a:srgbClr val="00B050"/>
              </a:solidFill>
              <a:latin typeface="Times New Roman" panose="02020603050405020304" pitchFamily="18" charset="0"/>
              <a:cs typeface="Times New Roman" panose="02020603050405020304" pitchFamily="18" charset="0"/>
            </a:endParaRPr>
          </a:p>
          <a:p>
            <a:r>
              <a:rPr lang="en-IN" sz="2400" u="sng" dirty="0">
                <a:latin typeface="Times New Roman" panose="02020603050405020304" pitchFamily="18" charset="0"/>
                <a:cs typeface="Times New Roman" panose="02020603050405020304" pitchFamily="18" charset="0"/>
                <a:hlinkClick r:id="rId2"/>
              </a:rPr>
              <a:t>(2)</a:t>
            </a:r>
            <a:r>
              <a:rPr lang="en-IN" sz="24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No citizen shall, on grounds only of religion, race, caste, sex, place of birth or any of them, be subject to any disability, liability, restriction or condition with regard </a:t>
            </a:r>
            <a:r>
              <a:rPr lang="en-IN" sz="2000" dirty="0" smtClean="0">
                <a:latin typeface="Times New Roman" panose="02020603050405020304" pitchFamily="18" charset="0"/>
                <a:cs typeface="Times New Roman" panose="02020603050405020304" pitchFamily="18" charset="0"/>
              </a:rPr>
              <a:t>to:</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3"/>
              </a:rPr>
              <a:t>(a)</a:t>
            </a:r>
            <a:r>
              <a:rPr lang="en-IN" sz="2000" dirty="0">
                <a:latin typeface="Times New Roman" panose="02020603050405020304" pitchFamily="18" charset="0"/>
                <a:cs typeface="Times New Roman" panose="02020603050405020304" pitchFamily="18" charset="0"/>
              </a:rPr>
              <a:t> access to shops, public restaurants, hotels and palaces of public entertainment; or</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4"/>
              </a:rPr>
              <a:t>(b)</a:t>
            </a:r>
            <a:r>
              <a:rPr lang="en-IN" sz="2000" dirty="0">
                <a:latin typeface="Times New Roman" panose="02020603050405020304" pitchFamily="18" charset="0"/>
                <a:cs typeface="Times New Roman" panose="02020603050405020304" pitchFamily="18" charset="0"/>
              </a:rPr>
              <a:t> the use of wells, tanks, bathing </a:t>
            </a:r>
            <a:r>
              <a:rPr lang="en-IN" sz="2000" dirty="0" smtClean="0">
                <a:latin typeface="Times New Roman" panose="02020603050405020304" pitchFamily="18" charset="0"/>
                <a:cs typeface="Times New Roman" panose="02020603050405020304" pitchFamily="18" charset="0"/>
              </a:rPr>
              <a:t>Ghats, </a:t>
            </a:r>
            <a:r>
              <a:rPr lang="en-IN" sz="2000" dirty="0">
                <a:latin typeface="Times New Roman" panose="02020603050405020304" pitchFamily="18" charset="0"/>
                <a:cs typeface="Times New Roman" panose="02020603050405020304" pitchFamily="18" charset="0"/>
              </a:rPr>
              <a:t>roads and places of public resort maintained wholly or partly out of State funds or dedicated to the use of the general public</a:t>
            </a:r>
            <a:endParaRPr lang="en-US" sz="2000" dirty="0">
              <a:latin typeface="Times New Roman" panose="02020603050405020304" pitchFamily="18" charset="0"/>
              <a:cs typeface="Times New Roman" panose="02020603050405020304" pitchFamily="18" charset="0"/>
            </a:endParaRPr>
          </a:p>
          <a:p>
            <a:pPr algn="ctr"/>
            <a:endParaRPr lang="en-US" sz="2000" b="1" dirty="0" smtClean="0">
              <a:solidFill>
                <a:srgbClr val="00B050"/>
              </a:solidFill>
              <a:latin typeface="Times New Roman" panose="02020603050405020304" pitchFamily="18" charset="0"/>
              <a:cs typeface="Times New Roman" panose="02020603050405020304" pitchFamily="18" charset="0"/>
            </a:endParaRPr>
          </a:p>
          <a:p>
            <a:pPr algn="just"/>
            <a:r>
              <a:rPr lang="en-IN" sz="2000" u="sng" dirty="0" smtClean="0">
                <a:latin typeface="Times New Roman" panose="02020603050405020304" pitchFamily="18" charset="0"/>
                <a:cs typeface="Times New Roman" panose="02020603050405020304" pitchFamily="18" charset="0"/>
                <a:hlinkClick r:id="rId5"/>
              </a:rPr>
              <a:t>(</a:t>
            </a:r>
            <a:r>
              <a:rPr lang="en-IN" sz="2000" u="sng" dirty="0">
                <a:latin typeface="Times New Roman" panose="02020603050405020304" pitchFamily="18" charset="0"/>
                <a:cs typeface="Times New Roman" panose="02020603050405020304" pitchFamily="18" charset="0"/>
                <a:hlinkClick r:id="rId5"/>
              </a:rPr>
              <a:t>3)</a:t>
            </a:r>
            <a:r>
              <a:rPr lang="en-IN" sz="2000" dirty="0">
                <a:latin typeface="Times New Roman" panose="02020603050405020304" pitchFamily="18" charset="0"/>
                <a:cs typeface="Times New Roman" panose="02020603050405020304" pitchFamily="18" charset="0"/>
              </a:rPr>
              <a:t> Nothing in this article shall prevent the State from making any special provision for women and </a:t>
            </a:r>
            <a:r>
              <a:rPr lang="en-IN" sz="2000" dirty="0" smtClean="0">
                <a:latin typeface="Times New Roman" panose="02020603050405020304" pitchFamily="18" charset="0"/>
                <a:cs typeface="Times New Roman" panose="02020603050405020304" pitchFamily="18" charset="0"/>
              </a:rPr>
              <a:t>children</a:t>
            </a:r>
          </a:p>
          <a:p>
            <a:pPr algn="just"/>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6"/>
              </a:rPr>
              <a:t>(4)</a:t>
            </a:r>
            <a:r>
              <a:rPr lang="en-IN" sz="2000" dirty="0">
                <a:latin typeface="Times New Roman" panose="02020603050405020304" pitchFamily="18" charset="0"/>
                <a:cs typeface="Times New Roman" panose="02020603050405020304" pitchFamily="18" charset="0"/>
              </a:rPr>
              <a:t> Nothing in this article or in clause ( 2 ) of Article 29 shall prevent the State from making any special provision for the advancement of any socially and educationally backward classes of citizens or for the Scheduled Castes and the Scheduled Tribes</a:t>
            </a:r>
            <a:endParaRPr lang="en-US" sz="2000" dirty="0">
              <a:latin typeface="Times New Roman" panose="02020603050405020304" pitchFamily="18" charset="0"/>
              <a:cs typeface="Times New Roman" panose="02020603050405020304" pitchFamily="18" charset="0"/>
            </a:endParaRPr>
          </a:p>
          <a:p>
            <a:endParaRPr lang="en-US" sz="2000" dirty="0"/>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37330976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7194277"/>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500" dirty="0">
                <a:solidFill>
                  <a:schemeClr val="accent1">
                    <a:lumMod val="75000"/>
                  </a:schemeClr>
                </a:solidFill>
                <a:latin typeface="Times New Roman" panose="02020603050405020304" pitchFamily="18" charset="0"/>
                <a:cs typeface="Times New Roman" panose="02020603050405020304" pitchFamily="18" charset="0"/>
              </a:rPr>
              <a:t>Article </a:t>
            </a:r>
            <a:r>
              <a:rPr lang="en-US" sz="2500" dirty="0" smtClean="0">
                <a:solidFill>
                  <a:schemeClr val="accent1">
                    <a:lumMod val="75000"/>
                  </a:schemeClr>
                </a:solidFill>
                <a:latin typeface="Times New Roman" panose="02020603050405020304" pitchFamily="18" charset="0"/>
                <a:cs typeface="Times New Roman" panose="02020603050405020304" pitchFamily="18" charset="0"/>
              </a:rPr>
              <a:t>16:</a:t>
            </a:r>
          </a:p>
          <a:p>
            <a:pPr algn="just"/>
            <a:r>
              <a:rPr lang="en-US" sz="2000" dirty="0">
                <a:solidFill>
                  <a:schemeClr val="accent1">
                    <a:lumMod val="75000"/>
                  </a:schemeClr>
                </a:solidFill>
                <a:latin typeface="Times New Roman" panose="02020603050405020304" pitchFamily="18" charset="0"/>
                <a:cs typeface="Times New Roman" panose="02020603050405020304" pitchFamily="18" charset="0"/>
              </a:rPr>
              <a:t> </a:t>
            </a:r>
            <a:r>
              <a:rPr lang="en-US" sz="2000" dirty="0" smtClean="0">
                <a:solidFill>
                  <a:schemeClr val="accent1">
                    <a:lumMod val="75000"/>
                  </a:schemeClr>
                </a:solidFill>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t>
            </a:r>
          </a:p>
          <a:p>
            <a:pPr algn="just"/>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Equality </a:t>
            </a:r>
            <a:r>
              <a:rPr lang="en-IN" sz="2000" dirty="0">
                <a:latin typeface="Times New Roman" panose="02020603050405020304" pitchFamily="18" charset="0"/>
                <a:cs typeface="Times New Roman" panose="02020603050405020304" pitchFamily="18" charset="0"/>
              </a:rPr>
              <a:t>of opportunity in matters of public </a:t>
            </a:r>
            <a:r>
              <a:rPr lang="en-IN" sz="2000" dirty="0" smtClean="0">
                <a:latin typeface="Times New Roman" panose="02020603050405020304" pitchFamily="18" charset="0"/>
                <a:cs typeface="Times New Roman" panose="02020603050405020304" pitchFamily="18" charset="0"/>
              </a:rPr>
              <a:t>employment</a:t>
            </a:r>
          </a:p>
          <a:p>
            <a:pPr algn="just"/>
            <a:endParaRPr lang="en-US" sz="2000" dirty="0">
              <a:latin typeface="Times New Roman" panose="02020603050405020304" pitchFamily="18" charset="0"/>
              <a:cs typeface="Times New Roman" panose="02020603050405020304" pitchFamily="18" charset="0"/>
            </a:endParaRPr>
          </a:p>
          <a:p>
            <a:pPr marL="457200" indent="-457200" algn="just">
              <a:buAutoNum type="arabicParenBoth"/>
            </a:pPr>
            <a:r>
              <a:rPr lang="en-IN" sz="2000" dirty="0" smtClean="0">
                <a:latin typeface="Times New Roman" panose="02020603050405020304" pitchFamily="18" charset="0"/>
                <a:cs typeface="Times New Roman" panose="02020603050405020304" pitchFamily="18" charset="0"/>
              </a:rPr>
              <a:t>There </a:t>
            </a:r>
            <a:r>
              <a:rPr lang="en-IN" sz="2000" dirty="0">
                <a:latin typeface="Times New Roman" panose="02020603050405020304" pitchFamily="18" charset="0"/>
                <a:cs typeface="Times New Roman" panose="02020603050405020304" pitchFamily="18" charset="0"/>
              </a:rPr>
              <a:t>shall be equality of opportunity for all citizens in matters relating to employment or appointment to any office under the </a:t>
            </a:r>
            <a:r>
              <a:rPr lang="en-IN" sz="2000" dirty="0" smtClean="0">
                <a:latin typeface="Times New Roman" panose="02020603050405020304" pitchFamily="18" charset="0"/>
                <a:cs typeface="Times New Roman" panose="02020603050405020304" pitchFamily="18" charset="0"/>
              </a:rPr>
              <a:t>State.</a:t>
            </a:r>
          </a:p>
          <a:p>
            <a:pPr algn="just"/>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2"/>
              </a:rPr>
              <a:t>(2)</a:t>
            </a:r>
            <a:r>
              <a:rPr lang="en-IN" sz="2000" dirty="0">
                <a:latin typeface="Times New Roman" panose="02020603050405020304" pitchFamily="18" charset="0"/>
                <a:cs typeface="Times New Roman" panose="02020603050405020304" pitchFamily="18" charset="0"/>
              </a:rPr>
              <a:t> No citizen shall, on grounds only of religion, race, caste, sex, descent, place of birth, residence or any of them, be ineligible for, or discriminated against in respect or, any employment or office under the </a:t>
            </a:r>
            <a:r>
              <a:rPr lang="en-IN" sz="2000" dirty="0" smtClean="0">
                <a:latin typeface="Times New Roman" panose="02020603050405020304" pitchFamily="18" charset="0"/>
                <a:cs typeface="Times New Roman" panose="02020603050405020304" pitchFamily="18" charset="0"/>
              </a:rPr>
              <a:t>State</a:t>
            </a:r>
          </a:p>
          <a:p>
            <a:pPr algn="just"/>
            <a:endParaRPr lang="en-IN" sz="2000" dirty="0" smtClean="0">
              <a:latin typeface="Times New Roman" panose="02020603050405020304" pitchFamily="18" charset="0"/>
              <a:cs typeface="Times New Roman" panose="02020603050405020304" pitchFamily="18" charset="0"/>
            </a:endParaRPr>
          </a:p>
          <a:p>
            <a:pPr algn="just"/>
            <a:r>
              <a:rPr lang="en-IN" sz="2000" u="sng" dirty="0">
                <a:hlinkClick r:id="rId3"/>
              </a:rPr>
              <a:t>(3)</a:t>
            </a:r>
            <a:r>
              <a:rPr lang="en-IN" sz="2000" dirty="0"/>
              <a:t> </a:t>
            </a:r>
            <a:r>
              <a:rPr lang="en-IN" sz="2000" dirty="0">
                <a:latin typeface="Times New Roman" panose="02020603050405020304" pitchFamily="18" charset="0"/>
                <a:cs typeface="Times New Roman" panose="02020603050405020304" pitchFamily="18" charset="0"/>
              </a:rPr>
              <a:t>Nothing in this article shall prevent Parliament from making any law prescribing, in regard to a class or classes of employment or appointment to an office under the Government of, or any local or other authority within, a State or Union territory, any requirement as to residence within that State or Union territory prior to such employment or </a:t>
            </a:r>
            <a:r>
              <a:rPr lang="en-IN" sz="2000" dirty="0" smtClean="0">
                <a:latin typeface="Times New Roman" panose="02020603050405020304" pitchFamily="18" charset="0"/>
                <a:cs typeface="Times New Roman" panose="02020603050405020304" pitchFamily="18" charset="0"/>
              </a:rPr>
              <a:t>appointment.</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endParaRPr lang="en-US" sz="2000" dirty="0"/>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20688526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4655121"/>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algn="just"/>
            <a:r>
              <a:rPr lang="en-IN" sz="2000" u="sng" dirty="0">
                <a:hlinkClick r:id="rId2"/>
              </a:rPr>
              <a:t>(4)</a:t>
            </a:r>
            <a:r>
              <a:rPr lang="en-IN" sz="2000" dirty="0"/>
              <a:t> </a:t>
            </a:r>
            <a:r>
              <a:rPr lang="en-IN" sz="2000" dirty="0">
                <a:latin typeface="Times New Roman" panose="02020603050405020304" pitchFamily="18" charset="0"/>
                <a:cs typeface="Times New Roman" panose="02020603050405020304" pitchFamily="18" charset="0"/>
              </a:rPr>
              <a:t>Nothing in this article shall prevent the State from making any provision for the reservation of appointments or posts in </a:t>
            </a:r>
            <a:r>
              <a:rPr lang="en-IN" sz="2000" dirty="0" smtClean="0">
                <a:latin typeface="Times New Roman" panose="02020603050405020304" pitchFamily="18" charset="0"/>
                <a:cs typeface="Times New Roman" panose="02020603050405020304" pitchFamily="18" charset="0"/>
              </a:rPr>
              <a:t>favour </a:t>
            </a:r>
            <a:r>
              <a:rPr lang="en-IN" sz="2000" dirty="0">
                <a:latin typeface="Times New Roman" panose="02020603050405020304" pitchFamily="18" charset="0"/>
                <a:cs typeface="Times New Roman" panose="02020603050405020304" pitchFamily="18" charset="0"/>
              </a:rPr>
              <a:t>of any backward class of citizens which, in the opinion of the State, is not adequately represented in the services under the </a:t>
            </a:r>
            <a:r>
              <a:rPr lang="en-IN" sz="2000" dirty="0" smtClean="0">
                <a:latin typeface="Times New Roman" panose="02020603050405020304" pitchFamily="18" charset="0"/>
                <a:cs typeface="Times New Roman" panose="02020603050405020304" pitchFamily="18" charset="0"/>
              </a:rPr>
              <a:t>State</a:t>
            </a:r>
          </a:p>
          <a:p>
            <a:pPr algn="just"/>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3"/>
              </a:rPr>
              <a:t>(5)</a:t>
            </a:r>
            <a:r>
              <a:rPr lang="en-IN" sz="2000" dirty="0">
                <a:latin typeface="Times New Roman" panose="02020603050405020304" pitchFamily="18" charset="0"/>
                <a:cs typeface="Times New Roman" panose="02020603050405020304" pitchFamily="18" charset="0"/>
              </a:rPr>
              <a:t> Nothing in this article shall affect the operation of any law which provides that the incumbent of an office in connection with the affairs of any religious or denominational institution or any member of the governing body thereof shall be a person professing a particular religion or belonging to a particular denomination</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gn="just">
              <a:buFont typeface="Arial" pitchFamily="34" charset="0"/>
              <a:buChar char="•"/>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6163048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6717223"/>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17:</a:t>
            </a:r>
          </a:p>
          <a:p>
            <a:pPr marL="342900" indent="-342900">
              <a:buFont typeface="Arial" panose="020B0604020202020204" pitchFamily="34" charset="0"/>
              <a:buChar char="•"/>
            </a:pPr>
            <a:endParaRPr lang="en-US" sz="2300" dirty="0" smtClean="0">
              <a:solidFill>
                <a:schemeClr val="accent1">
                  <a:lumMod val="75000"/>
                </a:schemeClr>
              </a:solidFill>
              <a:latin typeface="Times New Roman" panose="02020603050405020304" pitchFamily="18" charset="0"/>
              <a:cs typeface="Times New Roman" panose="02020603050405020304" pitchFamily="18" charset="0"/>
            </a:endParaRPr>
          </a:p>
          <a:p>
            <a:r>
              <a:rPr lang="en-IN" sz="2300" dirty="0" smtClean="0">
                <a:latin typeface="Times New Roman" panose="02020603050405020304" pitchFamily="18" charset="0"/>
                <a:cs typeface="Times New Roman" panose="02020603050405020304" pitchFamily="18" charset="0"/>
              </a:rPr>
              <a:t>       </a:t>
            </a:r>
            <a:r>
              <a:rPr lang="en-IN" sz="2300" b="1" dirty="0">
                <a:latin typeface="Times New Roman" panose="02020603050405020304" pitchFamily="18" charset="0"/>
                <a:cs typeface="Times New Roman" panose="02020603050405020304" pitchFamily="18" charset="0"/>
              </a:rPr>
              <a:t>Abolition of Untouchability </a:t>
            </a:r>
            <a:endParaRPr lang="en-IN" sz="2300" b="1" dirty="0" smtClean="0">
              <a:latin typeface="Times New Roman" panose="02020603050405020304" pitchFamily="18" charset="0"/>
              <a:cs typeface="Times New Roman" panose="02020603050405020304" pitchFamily="18" charset="0"/>
            </a:endParaRPr>
          </a:p>
          <a:p>
            <a:pPr algn="just"/>
            <a:r>
              <a:rPr lang="en-IN" sz="2300" dirty="0" smtClean="0">
                <a:latin typeface="Times New Roman" panose="02020603050405020304" pitchFamily="18" charset="0"/>
                <a:cs typeface="Times New Roman" panose="02020603050405020304" pitchFamily="18" charset="0"/>
              </a:rPr>
              <a:t>Untouchability </a:t>
            </a:r>
            <a:r>
              <a:rPr lang="en-IN" sz="2300" dirty="0">
                <a:latin typeface="Times New Roman" panose="02020603050405020304" pitchFamily="18" charset="0"/>
                <a:cs typeface="Times New Roman" panose="02020603050405020304" pitchFamily="18" charset="0"/>
              </a:rPr>
              <a:t>is abolished and its practice in any form is forbidden The enforcement of any disability arising out of Untouchability shall be an offence punishable in accordance with law</a:t>
            </a: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3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a:solidFill>
                  <a:schemeClr val="accent1">
                    <a:lumMod val="75000"/>
                  </a:schemeClr>
                </a:solidFill>
                <a:latin typeface="Times New Roman" panose="02020603050405020304" pitchFamily="18" charset="0"/>
                <a:cs typeface="Times New Roman" panose="02020603050405020304" pitchFamily="18" charset="0"/>
              </a:rPr>
              <a:t>Article </a:t>
            </a: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18:</a:t>
            </a:r>
            <a:endParaRPr lang="en-US" sz="2300" dirty="0">
              <a:solidFill>
                <a:schemeClr val="accent1">
                  <a:lumMod val="75000"/>
                </a:schemeClr>
              </a:solidFill>
              <a:latin typeface="Times New Roman" panose="02020603050405020304" pitchFamily="18" charset="0"/>
              <a:cs typeface="Times New Roman" panose="02020603050405020304" pitchFamily="18" charset="0"/>
            </a:endParaRPr>
          </a:p>
          <a:p>
            <a:r>
              <a:rPr lang="en-IN" sz="2000" dirty="0" smtClean="0"/>
              <a:t>              </a:t>
            </a:r>
            <a:r>
              <a:rPr lang="en-IN" sz="2000" b="1" dirty="0" smtClean="0">
                <a:latin typeface="Times New Roman" panose="02020603050405020304" pitchFamily="18" charset="0"/>
                <a:cs typeface="Times New Roman" panose="02020603050405020304" pitchFamily="18" charset="0"/>
              </a:rPr>
              <a:t>Abolition </a:t>
            </a:r>
            <a:r>
              <a:rPr lang="en-IN" sz="2000" b="1" dirty="0">
                <a:latin typeface="Times New Roman" panose="02020603050405020304" pitchFamily="18" charset="0"/>
                <a:cs typeface="Times New Roman" panose="02020603050405020304" pitchFamily="18" charset="0"/>
              </a:rPr>
              <a:t>of </a:t>
            </a:r>
            <a:r>
              <a:rPr lang="en-IN" sz="2000" b="1" dirty="0" smtClean="0">
                <a:latin typeface="Times New Roman" panose="02020603050405020304" pitchFamily="18" charset="0"/>
                <a:cs typeface="Times New Roman" panose="02020603050405020304" pitchFamily="18" charset="0"/>
              </a:rPr>
              <a:t>titles</a:t>
            </a:r>
            <a:endParaRPr lang="en-US" sz="2000" b="1" dirty="0" smtClean="0">
              <a:latin typeface="Times New Roman" panose="02020603050405020304" pitchFamily="18" charset="0"/>
              <a:cs typeface="Times New Roman" panose="02020603050405020304" pitchFamily="18" charset="0"/>
            </a:endParaRPr>
          </a:p>
          <a:p>
            <a:endParaRPr lang="en-US" sz="2000" dirty="0"/>
          </a:p>
          <a:p>
            <a:pPr algn="just">
              <a:defRPr/>
            </a:pPr>
            <a:r>
              <a:rPr lang="en-IN" dirty="0">
                <a:latin typeface="Times New Roman" panose="02020603050405020304" pitchFamily="18" charset="0"/>
                <a:cs typeface="Times New Roman" panose="02020603050405020304" pitchFamily="18" charset="0"/>
              </a:rPr>
              <a:t>No title, not being a military or academic distinction, shall be conferred by the State No citizen of India shall accept any title from any foreign State No person who is not a citizen of India shall, while he holds any office of profit or trust under the State, accept without the consent of the President any title from any foreign State No person holding any office of profit or trust under the State shall, without the consent of the President, accept any present, emolument, or office of any kind from or under any foreign State Right to Freedom</a:t>
            </a:r>
            <a:endParaRPr lang="en-US" dirty="0">
              <a:latin typeface="Times New Roman" panose="02020603050405020304" pitchFamily="18" charset="0"/>
              <a:cs typeface="Times New Roman" panose="02020603050405020304" pitchFamily="18" charset="0"/>
            </a:endParaRPr>
          </a:p>
          <a:p>
            <a:pPr algn="just">
              <a:defRPr/>
            </a:pPr>
            <a:endParaRPr lang="en-US" sz="2000" dirty="0" smtClean="0"/>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Harrington" pitchFamily="82"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2169166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5363007"/>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19:</a:t>
            </a:r>
          </a:p>
          <a:p>
            <a:pPr marL="342900" indent="-342900">
              <a:buFont typeface="Arial" panose="020B0604020202020204" pitchFamily="34" charset="0"/>
              <a:buChar char="•"/>
            </a:pPr>
            <a:endParaRPr lang="en-US" sz="2300" dirty="0" smtClean="0">
              <a:solidFill>
                <a:schemeClr val="accent1">
                  <a:lumMod val="75000"/>
                </a:schemeClr>
              </a:solidFill>
              <a:latin typeface="Times New Roman" panose="02020603050405020304" pitchFamily="18" charset="0"/>
              <a:cs typeface="Times New Roman" panose="02020603050405020304" pitchFamily="18" charset="0"/>
            </a:endParaRPr>
          </a:p>
          <a:p>
            <a:pPr algn="just">
              <a:defRPr/>
            </a:pPr>
            <a:r>
              <a:rPr lang="en-IN" sz="2000" dirty="0">
                <a:latin typeface="Times New Roman" panose="02020603050405020304" pitchFamily="18" charset="0"/>
                <a:cs typeface="Times New Roman" panose="02020603050405020304" pitchFamily="18" charset="0"/>
              </a:rPr>
              <a:t>Protection of certain rights regarding freedom of speech </a:t>
            </a:r>
            <a:r>
              <a:rPr lang="en-IN" sz="2000" dirty="0" smtClean="0">
                <a:latin typeface="Times New Roman" panose="02020603050405020304" pitchFamily="18" charset="0"/>
                <a:cs typeface="Times New Roman" panose="02020603050405020304" pitchFamily="18" charset="0"/>
              </a:rPr>
              <a:t>etc.</a:t>
            </a:r>
          </a:p>
          <a:p>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t>
            </a:r>
            <a:r>
              <a:rPr lang="en-IN" sz="2000" u="sng" dirty="0">
                <a:latin typeface="Times New Roman" panose="02020603050405020304" pitchFamily="18" charset="0"/>
                <a:cs typeface="Times New Roman" panose="02020603050405020304" pitchFamily="18" charset="0"/>
                <a:hlinkClick r:id="rId2"/>
              </a:rPr>
              <a:t>(1)</a:t>
            </a:r>
            <a:r>
              <a:rPr lang="en-IN" sz="2000" dirty="0">
                <a:latin typeface="Times New Roman" panose="02020603050405020304" pitchFamily="18" charset="0"/>
                <a:cs typeface="Times New Roman" panose="02020603050405020304" pitchFamily="18" charset="0"/>
              </a:rPr>
              <a:t> All citizens shall have the </a:t>
            </a:r>
            <a:r>
              <a:rPr lang="en-IN" sz="2000" dirty="0" smtClean="0">
                <a:latin typeface="Times New Roman" panose="02020603050405020304" pitchFamily="18" charset="0"/>
                <a:cs typeface="Times New Roman" panose="02020603050405020304" pitchFamily="18" charset="0"/>
              </a:rPr>
              <a:t>right</a:t>
            </a:r>
          </a:p>
          <a:p>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3"/>
              </a:rPr>
              <a:t>(a)</a:t>
            </a:r>
            <a:r>
              <a:rPr lang="en-IN" sz="2000" dirty="0">
                <a:latin typeface="Times New Roman" panose="02020603050405020304" pitchFamily="18" charset="0"/>
                <a:cs typeface="Times New Roman" panose="02020603050405020304" pitchFamily="18" charset="0"/>
              </a:rPr>
              <a:t> to freedom of speech and expression;</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4"/>
              </a:rPr>
              <a:t>(b)</a:t>
            </a:r>
            <a:r>
              <a:rPr lang="en-IN" sz="2000" dirty="0">
                <a:latin typeface="Times New Roman" panose="02020603050405020304" pitchFamily="18" charset="0"/>
                <a:cs typeface="Times New Roman" panose="02020603050405020304" pitchFamily="18" charset="0"/>
              </a:rPr>
              <a:t> to assemble peaceably and without arms;</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5"/>
              </a:rPr>
              <a:t>(c)</a:t>
            </a:r>
            <a:r>
              <a:rPr lang="en-IN" sz="2000" dirty="0">
                <a:latin typeface="Times New Roman" panose="02020603050405020304" pitchFamily="18" charset="0"/>
                <a:cs typeface="Times New Roman" panose="02020603050405020304" pitchFamily="18" charset="0"/>
              </a:rPr>
              <a:t> to form associations or unions;</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6"/>
              </a:rPr>
              <a:t>(d)</a:t>
            </a:r>
            <a:r>
              <a:rPr lang="en-IN" sz="2000" dirty="0">
                <a:latin typeface="Times New Roman" panose="02020603050405020304" pitchFamily="18" charset="0"/>
                <a:cs typeface="Times New Roman" panose="02020603050405020304" pitchFamily="18" charset="0"/>
              </a:rPr>
              <a:t> to move freely throughout the territory of India;</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7"/>
              </a:rPr>
              <a:t>(e)</a:t>
            </a:r>
            <a:r>
              <a:rPr lang="en-IN" sz="2000" dirty="0">
                <a:latin typeface="Times New Roman" panose="02020603050405020304" pitchFamily="18" charset="0"/>
                <a:cs typeface="Times New Roman" panose="02020603050405020304" pitchFamily="18" charset="0"/>
              </a:rPr>
              <a:t> to reside and settle in any part of the territory of India; and</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8"/>
              </a:rPr>
              <a:t>(f)</a:t>
            </a:r>
            <a:r>
              <a:rPr lang="en-IN" sz="2000" dirty="0">
                <a:latin typeface="Times New Roman" panose="02020603050405020304" pitchFamily="18" charset="0"/>
                <a:cs typeface="Times New Roman" panose="02020603050405020304" pitchFamily="18" charset="0"/>
              </a:rPr>
              <a:t> omitted</a:t>
            </a:r>
            <a:endParaRPr lang="en-US" sz="2000" dirty="0">
              <a:latin typeface="Times New Roman" panose="02020603050405020304" pitchFamily="18" charset="0"/>
              <a:cs typeface="Times New Roman" panose="02020603050405020304" pitchFamily="18" charset="0"/>
            </a:endParaRPr>
          </a:p>
          <a:p>
            <a:r>
              <a:rPr lang="en-IN" sz="2000" u="sng" dirty="0">
                <a:latin typeface="Times New Roman" panose="02020603050405020304" pitchFamily="18" charset="0"/>
                <a:cs typeface="Times New Roman" panose="02020603050405020304" pitchFamily="18" charset="0"/>
                <a:hlinkClick r:id="rId9"/>
              </a:rPr>
              <a:t>(g)</a:t>
            </a:r>
            <a:r>
              <a:rPr lang="en-IN" sz="2000" dirty="0">
                <a:latin typeface="Times New Roman" panose="02020603050405020304" pitchFamily="18" charset="0"/>
                <a:cs typeface="Times New Roman" panose="02020603050405020304" pitchFamily="18" charset="0"/>
              </a:rPr>
              <a:t> to practise any profession, or to carry </a:t>
            </a:r>
            <a:r>
              <a:rPr lang="en-IN" sz="2000" dirty="0"/>
              <a:t>on any occupation, trade or business</a:t>
            </a:r>
            <a:endParaRPr lang="en-US" sz="2000" dirty="0"/>
          </a:p>
          <a:p>
            <a:endParaRPr lang="en-IN" sz="2000" u="sng" dirty="0" smtClean="0">
              <a:hlinkClick r:id="rId10"/>
            </a:endParaRPr>
          </a:p>
          <a:p>
            <a:pPr algn="r">
              <a:buFontTx/>
              <a:buNone/>
            </a:pPr>
            <a:endParaRPr lang="en-US" sz="105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3008813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4439677"/>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19:</a:t>
            </a:r>
          </a:p>
          <a:p>
            <a:pPr marL="342900" indent="-342900">
              <a:buFont typeface="Arial" panose="020B0604020202020204" pitchFamily="34" charset="0"/>
              <a:buChar char="•"/>
            </a:pPr>
            <a:endParaRPr lang="en-US" sz="2300" dirty="0" smtClean="0">
              <a:solidFill>
                <a:schemeClr val="accent1">
                  <a:lumMod val="75000"/>
                </a:schemeClr>
              </a:solidFill>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2"/>
              </a:rPr>
              <a:t>(2)</a:t>
            </a:r>
            <a:r>
              <a:rPr lang="en-IN" sz="2000" dirty="0">
                <a:latin typeface="Times New Roman" panose="02020603050405020304" pitchFamily="18" charset="0"/>
                <a:cs typeface="Times New Roman" panose="02020603050405020304" pitchFamily="18" charset="0"/>
              </a:rPr>
              <a:t> Nothing in sub clause (a) of clause </a:t>
            </a:r>
            <a:endParaRPr lang="en-IN" sz="2000" dirty="0" smtClean="0">
              <a:latin typeface="Times New Roman" panose="02020603050405020304" pitchFamily="18" charset="0"/>
              <a:cs typeface="Times New Roman" panose="02020603050405020304" pitchFamily="18" charset="0"/>
            </a:endParaRPr>
          </a:p>
          <a:p>
            <a:pPr algn="just"/>
            <a:endParaRPr lang="en-IN" sz="2000" dirty="0" smtClean="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1 ) shall affect the operation of any existing law, or prevent the State from making any law, in so far as such law imposes reasonable restrictions on the exercise of the right conferred by the said sub clause in the interests of the sovereignty and integrity of India, the security of the State, friendly relations with foreign States, public order, decency or morality or in relation to contempt of court, defamation or incitement to an offence</a:t>
            </a:r>
            <a:endParaRPr lang="en-US" sz="2000" dirty="0">
              <a:latin typeface="Times New Roman" pitchFamily="18" charset="0"/>
              <a:cs typeface="Times New Roman" pitchFamily="18" charset="0"/>
            </a:endParaRPr>
          </a:p>
          <a:p>
            <a:pPr algn="just">
              <a:defRPr/>
            </a:pPr>
            <a:endParaRPr lang="en-US" sz="2000" dirty="0">
              <a:latin typeface="Times New Roman" pitchFamily="18" charset="0"/>
              <a:cs typeface="Times New Roman" pitchFamily="18" charset="0"/>
            </a:endParaRPr>
          </a:p>
          <a:p>
            <a:pPr algn="r">
              <a:buFontTx/>
              <a:buNone/>
            </a:pPr>
            <a:endParaRPr lang="en-US" sz="105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30291737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5009064"/>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19:</a:t>
            </a:r>
          </a:p>
          <a:p>
            <a:pPr algn="just">
              <a:defRPr/>
            </a:pPr>
            <a:endParaRPr lang="en-US" sz="2000" dirty="0" smtClean="0">
              <a:latin typeface="Times New Roman" pitchFamily="18" charset="0"/>
              <a:cs typeface="Times New Roman" pitchFamily="18" charset="0"/>
            </a:endParaRPr>
          </a:p>
          <a:p>
            <a:pPr algn="just">
              <a:defRPr/>
            </a:pPr>
            <a:r>
              <a:rPr lang="en-IN" sz="2000" u="sng" dirty="0">
                <a:hlinkClick r:id="rId2"/>
              </a:rPr>
              <a:t>(3)</a:t>
            </a:r>
            <a:r>
              <a:rPr lang="en-IN" sz="2000" dirty="0"/>
              <a:t> </a:t>
            </a:r>
            <a:r>
              <a:rPr lang="en-IN" sz="2000" dirty="0">
                <a:latin typeface="Times New Roman" panose="02020603050405020304" pitchFamily="18" charset="0"/>
                <a:cs typeface="Times New Roman" panose="02020603050405020304" pitchFamily="18" charset="0"/>
              </a:rPr>
              <a:t>Nothing in sub clause (b) of the said clause shall affect the operation of any existing law in so far as it imposes, or prevent the State from making any law imposing, in the interests of the sovereignty and integrity of India or public order, reasonable restrictions on the exercise of the right conferred by the said sub clause</a:t>
            </a:r>
            <a:endParaRPr lang="en-US" sz="2000" dirty="0">
              <a:latin typeface="Times New Roman" panose="02020603050405020304" pitchFamily="18" charset="0"/>
              <a:cs typeface="Times New Roman" panose="02020603050405020304" pitchFamily="18" charset="0"/>
            </a:endParaRPr>
          </a:p>
          <a:p>
            <a:pPr algn="just">
              <a:defRPr/>
            </a:pPr>
            <a:endParaRPr lang="en-US" sz="2000" dirty="0" smtClean="0">
              <a:latin typeface="Times New Roman" pitchFamily="18" charset="0"/>
              <a:cs typeface="Times New Roman" pitchFamily="18" charset="0"/>
            </a:endParaRPr>
          </a:p>
          <a:p>
            <a:pPr algn="just">
              <a:defRPr/>
            </a:pPr>
            <a:r>
              <a:rPr lang="en-IN" sz="2000" u="sng" dirty="0">
                <a:latin typeface="Times New Roman" panose="02020603050405020304" pitchFamily="18" charset="0"/>
                <a:cs typeface="Times New Roman" panose="02020603050405020304" pitchFamily="18" charset="0"/>
                <a:hlinkClick r:id="rId3"/>
              </a:rPr>
              <a:t>(4)</a:t>
            </a:r>
            <a:r>
              <a:rPr lang="en-IN" sz="2000" dirty="0">
                <a:latin typeface="Times New Roman" panose="02020603050405020304" pitchFamily="18" charset="0"/>
                <a:cs typeface="Times New Roman" panose="02020603050405020304" pitchFamily="18" charset="0"/>
              </a:rPr>
              <a:t> Nothing in sub clause (c) of the said clause shall affect the operation of any existing law in so far as it imposes, or prevent the State from making any law imposing, in the interests of the sovereignty and integrity of India or public order or morality, reasonable restrictions on the exercise of the right conferred by the said sub clause</a:t>
            </a:r>
            <a:endParaRPr lang="en-US" sz="2000" dirty="0">
              <a:latin typeface="Times New Roman" panose="02020603050405020304" pitchFamily="18" charset="0"/>
              <a:cs typeface="Times New Roman" panose="02020603050405020304" pitchFamily="18" charset="0"/>
            </a:endParaRPr>
          </a:p>
          <a:p>
            <a:pPr algn="just">
              <a:defRPr/>
            </a:pPr>
            <a:endParaRPr lang="en-US" sz="2000" dirty="0">
              <a:latin typeface="Times New Roman" panose="02020603050405020304" pitchFamily="18" charset="0"/>
              <a:cs typeface="Times New Roman" panose="02020603050405020304" pitchFamily="18" charset="0"/>
            </a:endParaRPr>
          </a:p>
          <a:p>
            <a:pPr algn="r">
              <a:buFontTx/>
              <a:buNone/>
            </a:pPr>
            <a:endParaRPr lang="en-US" sz="105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22780500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6240170"/>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19:</a:t>
            </a:r>
          </a:p>
          <a:p>
            <a:pPr algn="just">
              <a:defRPr/>
            </a:pPr>
            <a:endParaRPr lang="en-US" sz="2000" dirty="0" smtClean="0">
              <a:latin typeface="Times New Roman" pitchFamily="18" charset="0"/>
              <a:cs typeface="Times New Roman" pitchFamily="18" charset="0"/>
            </a:endParaRPr>
          </a:p>
          <a:p>
            <a:pPr algn="just"/>
            <a:r>
              <a:rPr lang="en-IN" sz="2000" u="sng" dirty="0">
                <a:hlinkClick r:id="rId2"/>
              </a:rPr>
              <a:t>(</a:t>
            </a:r>
            <a:r>
              <a:rPr lang="en-IN" sz="2000" u="sng" dirty="0">
                <a:latin typeface="Times New Roman" panose="02020603050405020304" pitchFamily="18" charset="0"/>
                <a:cs typeface="Times New Roman" panose="02020603050405020304" pitchFamily="18" charset="0"/>
                <a:hlinkClick r:id="rId2"/>
              </a:rPr>
              <a:t>5)</a:t>
            </a:r>
            <a:r>
              <a:rPr lang="en-IN" sz="2000" dirty="0">
                <a:latin typeface="Times New Roman" panose="02020603050405020304" pitchFamily="18" charset="0"/>
                <a:cs typeface="Times New Roman" panose="02020603050405020304" pitchFamily="18" charset="0"/>
              </a:rPr>
              <a:t> Nothing in sub clauses (d) and (e) of the said clause shall affect the operation of any existing law in so far as it imposes, or prevent the State from making any law imposing, reasonable restrictions on the exercise of any of the rights conferred by the said sub clauses either in the interests of the general public or for the protection of the interests of any Scheduled Tribe</a:t>
            </a:r>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3"/>
              </a:rPr>
              <a:t>(6)</a:t>
            </a:r>
            <a:r>
              <a:rPr lang="en-IN" sz="2000" dirty="0">
                <a:latin typeface="Times New Roman" panose="02020603050405020304" pitchFamily="18" charset="0"/>
                <a:cs typeface="Times New Roman" panose="02020603050405020304" pitchFamily="18" charset="0"/>
              </a:rPr>
              <a:t> Nothing in sub clause (g) of the said clause shall affect the operation of any existing law in so far as it imposes, or prevent the State from making any law imposing, in the interests of the general public, reasonable restrictions on the exercise of the right conferred by the said sub clause, and, in particular, nothing in the said sub clause shall affect the operation of any existing law in so far as it relates to, or prevent the State from making any law relating to,</a:t>
            </a:r>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4"/>
              </a:rPr>
              <a:t>(</a:t>
            </a:r>
            <a:r>
              <a:rPr lang="en-IN" sz="2000" u="sng" dirty="0" err="1">
                <a:latin typeface="Times New Roman" panose="02020603050405020304" pitchFamily="18" charset="0"/>
                <a:cs typeface="Times New Roman" panose="02020603050405020304" pitchFamily="18" charset="0"/>
                <a:hlinkClick r:id="rId4"/>
              </a:rPr>
              <a:t>i</a:t>
            </a:r>
            <a:r>
              <a:rPr lang="en-IN" sz="2000" u="sng" dirty="0">
                <a:latin typeface="Times New Roman" panose="02020603050405020304" pitchFamily="18" charset="0"/>
                <a:cs typeface="Times New Roman" panose="02020603050405020304" pitchFamily="18" charset="0"/>
                <a:hlinkClick r:id="rId4"/>
              </a:rPr>
              <a:t>)</a:t>
            </a:r>
            <a:r>
              <a:rPr lang="en-IN" sz="2000" dirty="0">
                <a:latin typeface="Times New Roman" panose="02020603050405020304" pitchFamily="18" charset="0"/>
                <a:cs typeface="Times New Roman" panose="02020603050405020304" pitchFamily="18" charset="0"/>
              </a:rPr>
              <a:t> the professional or technical qualifications necessary for practising any profession or carrying on any occupation, trade or business, or</a:t>
            </a:r>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5"/>
              </a:rPr>
              <a:t>(ii)</a:t>
            </a:r>
            <a:r>
              <a:rPr lang="en-IN" sz="2000" dirty="0">
                <a:latin typeface="Times New Roman" panose="02020603050405020304" pitchFamily="18" charset="0"/>
                <a:cs typeface="Times New Roman" panose="02020603050405020304" pitchFamily="18" charset="0"/>
              </a:rPr>
              <a:t> the carrying on by the State, or by a corporation owned or controlled by the State, of any trade, business, industry or service, whether to the exclusion, complete or partial, of citizens or otherwise</a:t>
            </a:r>
            <a:endParaRPr lang="en-US" sz="2000" dirty="0">
              <a:latin typeface="Times New Roman" panose="02020603050405020304" pitchFamily="18" charset="0"/>
              <a:cs typeface="Times New Roman" panose="02020603050405020304" pitchFamily="18" charset="0"/>
            </a:endParaRPr>
          </a:p>
          <a:p>
            <a:pPr algn="just">
              <a:defRPr/>
            </a:pPr>
            <a:endParaRPr lang="en-US" sz="2000" dirty="0">
              <a:latin typeface="Times New Roman" panose="02020603050405020304" pitchFamily="18" charset="0"/>
              <a:cs typeface="Times New Roman" panose="02020603050405020304" pitchFamily="18" charset="0"/>
            </a:endParaRPr>
          </a:p>
          <a:p>
            <a:pPr algn="r">
              <a:buFontTx/>
              <a:buNone/>
            </a:pPr>
            <a:endParaRPr lang="en-US" sz="105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2721339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340" y="1093262"/>
            <a:ext cx="11093997" cy="4439677"/>
          </a:xfrm>
          <a:prstGeom prst="rect">
            <a:avLst/>
          </a:prstGeom>
          <a:noFill/>
        </p:spPr>
        <p:txBody>
          <a:bodyPr wrap="square">
            <a:spAutoFit/>
          </a:bodyPr>
          <a:lstStyle/>
          <a:p>
            <a:pPr algn="ctr"/>
            <a:r>
              <a:rPr lang="en-US" sz="2300" b="1" dirty="0">
                <a:solidFill>
                  <a:srgbClr val="00B050"/>
                </a:solidFill>
                <a:latin typeface="Times New Roman" panose="02020603050405020304" pitchFamily="18" charset="0"/>
                <a:cs typeface="Times New Roman" panose="02020603050405020304" pitchFamily="18" charset="0"/>
              </a:rPr>
              <a:t>Fundamental </a:t>
            </a:r>
            <a:r>
              <a:rPr lang="en-US" sz="2300" b="1" dirty="0" smtClean="0">
                <a:solidFill>
                  <a:srgbClr val="00B050"/>
                </a:solidFill>
                <a:latin typeface="Times New Roman" panose="02020603050405020304" pitchFamily="18" charset="0"/>
                <a:cs typeface="Times New Roman" panose="02020603050405020304" pitchFamily="18" charset="0"/>
              </a:rPr>
              <a:t>Rights:</a:t>
            </a:r>
          </a:p>
          <a:p>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smtClean="0">
                <a:solidFill>
                  <a:schemeClr val="accent1">
                    <a:lumMod val="75000"/>
                  </a:schemeClr>
                </a:solidFill>
                <a:latin typeface="Times New Roman" panose="02020603050405020304" pitchFamily="18" charset="0"/>
                <a:cs typeface="Times New Roman" panose="02020603050405020304" pitchFamily="18" charset="0"/>
              </a:rPr>
              <a:t>Article 20:</a:t>
            </a:r>
          </a:p>
          <a:p>
            <a:pPr marL="342900" indent="-342900">
              <a:buFont typeface="Arial" panose="020B0604020202020204" pitchFamily="34" charset="0"/>
              <a:buChar char="•"/>
            </a:pPr>
            <a:endParaRPr lang="en-US" sz="2300" dirty="0">
              <a:solidFill>
                <a:schemeClr val="accent1">
                  <a:lumMod val="75000"/>
                </a:schemeClr>
              </a:solidFill>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Protection in respect of conviction for offences</a:t>
            </a:r>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algn="just">
              <a:defRPr/>
            </a:pPr>
            <a:endParaRPr lang="en-US" sz="2000" dirty="0" smtClean="0">
              <a:latin typeface="Times New Roman" pitchFamily="18" charset="0"/>
              <a:cs typeface="Times New Roman" pitchFamily="18" charset="0"/>
            </a:endParaRPr>
          </a:p>
          <a:p>
            <a:pPr algn="just"/>
            <a:r>
              <a:rPr lang="en-IN" sz="2000" u="sng" dirty="0">
                <a:latin typeface="Times New Roman" panose="02020603050405020304" pitchFamily="18" charset="0"/>
                <a:cs typeface="Times New Roman" panose="02020603050405020304" pitchFamily="18" charset="0"/>
                <a:hlinkClick r:id="rId2"/>
              </a:rPr>
              <a:t>(1)</a:t>
            </a:r>
            <a:r>
              <a:rPr lang="en-IN" sz="2000" dirty="0">
                <a:latin typeface="Times New Roman" panose="02020603050405020304" pitchFamily="18" charset="0"/>
                <a:cs typeface="Times New Roman" panose="02020603050405020304" pitchFamily="18" charset="0"/>
              </a:rPr>
              <a:t> No person shall be convicted of any offence except for violation of the law in force at the time of the commission of the act charged as an offence, nor be subjected to a penalty greater than that which might have been inflicted under the law in force at the time of the commission of the offence</a:t>
            </a:r>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3"/>
              </a:rPr>
              <a:t>(2)</a:t>
            </a:r>
            <a:r>
              <a:rPr lang="en-IN" sz="2000" dirty="0">
                <a:latin typeface="Times New Roman" panose="02020603050405020304" pitchFamily="18" charset="0"/>
                <a:cs typeface="Times New Roman" panose="02020603050405020304" pitchFamily="18" charset="0"/>
              </a:rPr>
              <a:t> No person shall be prosecuted and punished for the same offence more than once</a:t>
            </a:r>
            <a:endParaRPr lang="en-US"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hlinkClick r:id="rId4"/>
              </a:rPr>
              <a:t>(3)</a:t>
            </a:r>
            <a:r>
              <a:rPr lang="en-IN" sz="2000" dirty="0">
                <a:latin typeface="Times New Roman" panose="02020603050405020304" pitchFamily="18" charset="0"/>
                <a:cs typeface="Times New Roman" panose="02020603050405020304" pitchFamily="18" charset="0"/>
              </a:rPr>
              <a:t> No person accused of any offence shall be compelled to be a witness against himself</a:t>
            </a:r>
            <a:endParaRPr lang="en-US" sz="2000" dirty="0">
              <a:latin typeface="Times New Roman" panose="02020603050405020304" pitchFamily="18" charset="0"/>
              <a:cs typeface="Times New Roman" panose="02020603050405020304" pitchFamily="18" charset="0"/>
            </a:endParaRPr>
          </a:p>
          <a:p>
            <a:pPr algn="just">
              <a:defRPr/>
            </a:pPr>
            <a:endParaRPr lang="en-US" sz="2000" dirty="0" smtClean="0">
              <a:latin typeface="Times New Roman" pitchFamily="18" charset="0"/>
              <a:cs typeface="Times New Roman" pitchFamily="18" charset="0"/>
            </a:endParaRPr>
          </a:p>
          <a:p>
            <a:pPr algn="r">
              <a:buFontTx/>
              <a:buNone/>
            </a:pPr>
            <a:endParaRPr lang="en-US" sz="105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9399530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754923" y="3074462"/>
            <a:ext cx="7901354" cy="1477328"/>
          </a:xfrm>
          <a:prstGeom prst="rect">
            <a:avLst/>
          </a:prstGeom>
          <a:noFill/>
        </p:spPr>
        <p:txBody>
          <a:bodyPr wrap="square">
            <a:spAutoFit/>
          </a:bodyPr>
          <a:lstStyle/>
          <a:p>
            <a:pPr algn="ctr">
              <a:buFontTx/>
              <a:buNone/>
            </a:pPr>
            <a:r>
              <a:rPr lang="en-US" sz="3500" b="1" i="1" dirty="0" smtClean="0">
                <a:solidFill>
                  <a:srgbClr val="006600"/>
                </a:solidFill>
                <a:latin typeface="Times New Roman" panose="02020603050405020304" pitchFamily="18" charset="0"/>
                <a:cs typeface="Times New Roman" panose="02020603050405020304" pitchFamily="18" charset="0"/>
              </a:rPr>
              <a:t>THANK YOU</a:t>
            </a:r>
          </a:p>
          <a:p>
            <a:pPr algn="ctr">
              <a:buFontTx/>
              <a:buNone/>
            </a:pPr>
            <a:r>
              <a:rPr lang="en-US" sz="3500" b="1" i="1" dirty="0" smtClean="0">
                <a:solidFill>
                  <a:srgbClr val="006600"/>
                </a:solidFill>
                <a:latin typeface="Times New Roman" panose="02020603050405020304" pitchFamily="18" charset="0"/>
                <a:cs typeface="Times New Roman" panose="02020603050405020304" pitchFamily="18" charset="0"/>
              </a:rPr>
              <a:t>Q&amp;A</a:t>
            </a:r>
            <a:endParaRPr lang="en-US" sz="3500" b="1" i="1" dirty="0">
              <a:solidFill>
                <a:srgbClr val="006600"/>
              </a:solidFill>
              <a:latin typeface="Times New Roman" panose="02020603050405020304" pitchFamily="18" charset="0"/>
              <a:cs typeface="Times New Roman" panose="02020603050405020304" pitchFamily="18" charset="0"/>
            </a:endParaRPr>
          </a:p>
          <a:p>
            <a:pPr algn="just">
              <a:defRPr/>
            </a:pPr>
            <a:endParaRPr lang="en-US" sz="2000" b="0" dirty="0">
              <a:latin typeface="Times New Roman" pitchFamily="18" charset="0"/>
              <a:cs typeface="Times New Roman" pitchFamily="18" charset="0"/>
            </a:endParaRPr>
          </a:p>
        </p:txBody>
      </p:sp>
    </p:spTree>
    <p:extLst>
      <p:ext uri="{BB962C8B-B14F-4D97-AF65-F5344CB8AC3E}">
        <p14:creationId xmlns="" xmlns:p14="http://schemas.microsoft.com/office/powerpoint/2010/main" val="188252339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4824</TotalTime>
  <Words>1857</Words>
  <Application>Microsoft Office PowerPoint</Application>
  <PresentationFormat>Custom</PresentationFormat>
  <Paragraphs>190</Paragraphs>
  <Slides>18</Slides>
  <Notes>4</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1_Office Theme</vt:lpstr>
      <vt:lpstr> Indian Constitution</vt:lpstr>
      <vt:lpstr> Indian Constitution</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HIGHER EDUCATION</dc:title>
  <dc:creator>svm</dc:creator>
  <cp:lastModifiedBy>RVIE</cp:lastModifiedBy>
  <cp:revision>259</cp:revision>
  <cp:lastPrinted>2022-06-13T07:18:59Z</cp:lastPrinted>
  <dcterms:created xsi:type="dcterms:W3CDTF">2020-01-17T04:33:43Z</dcterms:created>
  <dcterms:modified xsi:type="dcterms:W3CDTF">2023-06-23T07:55:25Z</dcterms:modified>
</cp:coreProperties>
</file>